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Nova operação</c:v>
                </c:pt>
              </c:strCache>
            </c:strRef>
          </c:tx>
          <c:spPr>
            <a:solidFill>
              <a:srgbClr val="2DD9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Carlos Ferrarezi</c:v>
                  </c:pt>
                  <c:pt idx="1">
                    <c:v>André Vitoretti</c:v>
                  </c:pt>
                  <c:pt idx="2">
                    <c:v>Antonio Mourão</c:v>
                  </c:pt>
                  <c:pt idx="3">
                    <c:v>Tiago Viel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27626534</c:v>
                </c:pt>
                <c:pt idx="1">
                  <c:v>16572000</c:v>
                </c:pt>
                <c:pt idx="2">
                  <c:v>4021000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Renovação</c:v>
                </c:pt>
              </c:strCache>
            </c:strRef>
          </c:tx>
          <c:spPr>
            <a:solidFill>
              <a:srgbClr val="5CC8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Carlos Ferrarezi</c:v>
                  </c:pt>
                  <c:pt idx="1">
                    <c:v>André Vitoretti</c:v>
                  </c:pt>
                  <c:pt idx="2">
                    <c:v>Antonio Mourão</c:v>
                  </c:pt>
                  <c:pt idx="3">
                    <c:v>Tiago Viel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1000000</c:v>
                </c:pt>
                <c:pt idx="1">
                  <c:v>4560000</c:v>
                </c:pt>
                <c:pt idx="2">
                  <c:v>8352000</c:v>
                </c:pt>
                <c:pt idx="3">
                  <c:v>1000000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4F6F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A3468"/>
              </a:solidFill>
              <a:prstDash val="solid"/>
              <a:round/>
            </a:ln>
          </c:spPr>
        </c:majorGridlines>
        <c:numFmt formatCode="R$ #,##0,,&quot;M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4B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F26"/>
        </a:solidFill>
        <a:ln w="12700" cap="flat">
          <a:solidFill>
            <a:srgbClr val="0A0F26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8C94B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A0F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Dados extraídos do HubSpot e do Slack em 21/09/2026. Para atualizar no mês seguinte, siga o roteiro do último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HubSpot, relatórios "Volume Ativado - Este mês" (140792840), "Clientes Ativados - Este mês" (149250442) e "Limite de Crédito Ativado - Este mês" (148884903).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HubSpot, relatório "Forecasting do quarter - Por mês (volume)" (140793599), recorte do mês vigente.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HubSpot, relatório "Farmers - Funil de Operação" (155079282), pipeline de Farming.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Substitua o retângulo tracejado pela imagem do gráfico de evolução da carteira. Atualização sugerida: a cada 2 dias.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agrupamento por proprietário das ativações do mês. Parcerias: agrupamento pela pessoa de BDR/parceria do negócio.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Retargeting: relatório 169016141. Frete: relatório 169003255. Câmbio: relatório 161366173, número consolidado da dupla.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Ativações detectadas no canal #celebrations do Slack. Mantenha no deck por 5 dias e depois substitua pelas próximas.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planilha "Aniversários Consolidado 2026". Troque a lista pelo mês seguinte — outubro tem 9 aniversariantes.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planilha "Tempo de casa Vixtra". Dois nomes vieram como apelido na planilha (Dri e Leo) — vale confirmar o nome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Modelo. Duplique quando entrar mais de uma pessoa. Para esconder sem apagar: botão direito no slide &gt; Ocultar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conteúdo é manual: permanece até alguém trocar.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Cotações capturadas em 21/09/2026. Tether e USD Coin aparecem como estáveis porque a fonte não publica variação diária para elas. Atualize antes de exibir, ou oculte este slide nos dias em que não for atualizar.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Dados desta versão extraídos em 21/09/2026.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766560" cy="6766560"/>
          </a:xfrm>
          <a:prstGeom prst="ellipse">
            <a:avLst/>
          </a:prstGeom>
          <a:solidFill>
            <a:srgbClr val="12306B">
              <a:alpha val="28000"/>
            </a:srgbClr>
          </a:solidFill>
          <a:ln w="12700">
            <a:solidFill>
              <a:srgbClr val="12306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194560" y="4023360"/>
            <a:ext cx="5852160" cy="5852160"/>
          </a:xfrm>
          <a:prstGeom prst="ellipse">
            <a:avLst/>
          </a:prstGeom>
          <a:solidFill>
            <a:srgbClr val="4A3A12">
              <a:alpha val="24000"/>
            </a:srgbClr>
          </a:solidFill>
          <a:ln w="12700">
            <a:solidFill>
              <a:srgbClr val="4A3A12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20574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2DD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AO VIVO · PAINEL INTERNO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8716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 Comercial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da operação · Setembro 2026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66928" y="4434840"/>
            <a:ext cx="2971800" cy="1234440"/>
          </a:xfrm>
          <a:prstGeom prst="roundRect">
            <a:avLst>
              <a:gd name="adj" fmla="val 888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45537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138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meta do mês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58768" y="4434840"/>
            <a:ext cx="2971800" cy="1234440"/>
          </a:xfrm>
          <a:prstGeom prst="roundRect">
            <a:avLst>
              <a:gd name="adj" fmla="val 888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114800" y="45537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B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5138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ativados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50608" y="4434840"/>
            <a:ext cx="2971800" cy="1234440"/>
          </a:xfrm>
          <a:prstGeom prst="roundRect">
            <a:avLst>
              <a:gd name="adj" fmla="val 888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06640" y="45537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5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R$ 17,3M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0" y="5138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quente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PROGRESSO DA META · SETEMBRO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do mês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pPr indent="0" marL="0">
              <a:buNone/>
            </a:pPr>
            <a:r>
              <a:rPr lang="en-US" sz="8800" b="1" dirty="0">
                <a:solidFill>
                  <a:srgbClr val="2D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8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432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meta atingida — faltam R$ 10.927.465 para bater o mês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6928" y="3246120"/>
            <a:ext cx="10881360" cy="310896"/>
          </a:xfrm>
          <a:prstGeom prst="roundRect">
            <a:avLst>
              <a:gd name="adj" fmla="val 4705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3246120"/>
            <a:ext cx="1741018" cy="310896"/>
          </a:xfrm>
          <a:prstGeom prst="roundRect">
            <a:avLst>
              <a:gd name="adj" fmla="val 47059"/>
            </a:avLst>
          </a:prstGeom>
          <a:solidFill>
            <a:srgbClr val="2DD9A8"/>
          </a:solidFill>
          <a:ln w="6350">
            <a:solidFill>
              <a:srgbClr val="2DD9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630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R$ 2.072.534,72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76288" y="3630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Meta: R$ 13.000.000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114800"/>
            <a:ext cx="3383280" cy="1051560"/>
          </a:xfrm>
          <a:prstGeom prst="roundRect">
            <a:avLst>
              <a:gd name="adj" fmla="val 10435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4672" y="42245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4727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ativados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24528" y="4114800"/>
            <a:ext cx="3383280" cy="1051560"/>
          </a:xfrm>
          <a:prstGeom prst="roundRect">
            <a:avLst>
              <a:gd name="adj" fmla="val 10435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462272" y="42245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R$ 3.000.000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462272" y="4727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aprovado no mês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114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 ATIVADOS NO MÊS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44348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Pneutek — R$ 600.000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Texol Brasil — R$ 500.000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Fusion Brasil — R$ 500.000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Eggerding Brasil — R$ 472.535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DE CLOSING · SETEMBRO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Negócios em aprovação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29000" cy="1234440"/>
          </a:xfrm>
          <a:prstGeom prst="roundRect">
            <a:avLst>
              <a:gd name="adj" fmla="val 888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04672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🔥 Quente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19202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5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R$ 17,3M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279392" y="1481328"/>
            <a:ext cx="3429000" cy="1234440"/>
          </a:xfrm>
          <a:prstGeom prst="roundRect">
            <a:avLst>
              <a:gd name="adj" fmla="val 888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17136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🌤 Morno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17136" y="19202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R$ 22,4M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7991856" y="1481328"/>
            <a:ext cx="3429000" cy="1234440"/>
          </a:xfrm>
          <a:prstGeom prst="roundRect">
            <a:avLst>
              <a:gd name="adj" fmla="val 888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❄ Frio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202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R$ 5,0M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035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 3 NEGÓCIOS EM DESTAQUE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10881360" cy="786384"/>
          </a:xfrm>
          <a:prstGeom prst="roundRect">
            <a:avLst>
              <a:gd name="adj" fmla="val 13953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" y="35112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Integralmedica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38221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Andrade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504688" y="36393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R$ 5.000.000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985248" y="363931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C2555"/>
          </a:solidFill>
          <a:ln w="12700">
            <a:solidFill>
              <a:srgbClr val="FF5C7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85248" y="36758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5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quente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315968"/>
            <a:ext cx="10881360" cy="786384"/>
          </a:xfrm>
          <a:prstGeom prst="roundRect">
            <a:avLst>
              <a:gd name="adj" fmla="val 13953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41248" y="44256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 Cearense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" y="47365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Jarbas Vinícius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504688" y="45537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R$ 5.000.000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985248" y="455371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C2555"/>
          </a:solidFill>
          <a:ln w="12700">
            <a:solidFill>
              <a:srgbClr val="FF5C7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85248" y="45902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5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quente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5230368"/>
            <a:ext cx="10881360" cy="786384"/>
          </a:xfrm>
          <a:prstGeom prst="roundRect">
            <a:avLst>
              <a:gd name="adj" fmla="val 13953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41248" y="53400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Pack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56509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Jarbas Vinícius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504688" y="54681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R$ 5.000.000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985248" y="546811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C2555"/>
          </a:solidFill>
          <a:ln w="12700">
            <a:solidFill>
              <a:srgbClr val="FF5C7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985248" y="55046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5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quente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DE FARMING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Funil de operação por farmer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72768"/>
          <a:ext cx="77724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686800" y="1737360"/>
            <a:ext cx="2926080" cy="1005840"/>
          </a:xfrm>
          <a:prstGeom prst="roundRect">
            <a:avLst>
              <a:gd name="adj" fmla="val 1090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887968" y="1856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 operação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887968" y="213969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R$ 48,2M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8686800" y="2971800"/>
            <a:ext cx="2926080" cy="1005840"/>
          </a:xfrm>
          <a:prstGeom prst="roundRect">
            <a:avLst>
              <a:gd name="adj" fmla="val 1090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887968" y="30906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Renovação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887968" y="337413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R$ 14,9M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8686800" y="4206240"/>
            <a:ext cx="2926080" cy="1005840"/>
          </a:xfrm>
          <a:prstGeom prst="roundRect">
            <a:avLst>
              <a:gd name="adj" fmla="val 1090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887968" y="43251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no funil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887968" y="460857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R$ 63,1M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EVOLUÇÃO DA CARTEIRA · ÚLTIMOS 30 DIAS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10881360" cy="4160520"/>
          </a:xfrm>
          <a:prstGeom prst="roundRect">
            <a:avLst>
              <a:gd name="adj" fmla="val 2198"/>
            </a:avLst>
          </a:prstGeom>
          <a:solidFill>
            <a:srgbClr val="161E48"/>
          </a:solidFill>
          <a:ln w="12700">
            <a:solidFill>
              <a:srgbClr val="2A346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566928" y="3200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aqui o gráfico da carteira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70332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a imagem do CR2 e cole sobre esta área. O retângulo tracejado some quando a imagem cobre ele.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870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CR2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DESEMPENHO DOS VENDEDORES · SETEMBRO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e parcerias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5564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67712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9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25296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Belotto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negócios ativados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268833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R$ 1.100.000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0540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9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25296" y="29809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Jarbas Vinícius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25296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negócio ativado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225296" y="34747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R$ 500.000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84048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9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25296" y="37673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Kaio Oliveira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25296" y="40416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negócio ativado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225296" y="42611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R$ 472.535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27448" y="1572768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983480" y="175564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2DD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PARCERIAS · FARMING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83480" y="2267712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9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385816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Matheus Ferreira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385816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oportunidades no mês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385816" y="268833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 pontos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83480" y="30540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9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385816" y="29809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 Porto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385816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oportunidades no mês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385816" y="34747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2,5 pontos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887968" y="1572768"/>
            <a:ext cx="2560320" cy="3566160"/>
          </a:xfrm>
          <a:prstGeom prst="roundRect">
            <a:avLst>
              <a:gd name="adj" fmla="val 4286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144000" y="1755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5CC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PARCERIAS · HUNTING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573768" y="2377440"/>
            <a:ext cx="1188720" cy="1188720"/>
          </a:xfrm>
          <a:prstGeom prst="ellipse">
            <a:avLst/>
          </a:prstGeom>
          <a:solidFill>
            <a:srgbClr val="1C2555"/>
          </a:solidFill>
          <a:ln w="19050">
            <a:solidFill>
              <a:srgbClr val="5CC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73768" y="26060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34" name="Text 32"/>
          <p:cNvSpPr txBox="1"/>
          <p:nvPr/>
        </p:nvSpPr>
        <p:spPr>
          <a:xfrm>
            <a:off x="9025128" y="37307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no mês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025128" y="4160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Fabio Papa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Matheus Ferreira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53949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Pontuação de farming: Small Lead = Sim vale 0,5 · Small Lead = Não vale 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DESEMPENHO DOS VENDEDORES · SETEMBRO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Retargeting, frete e câmbio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9019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2DD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ONBOARDING E RETARGETING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73936" y="2487168"/>
            <a:ext cx="1005840" cy="1005840"/>
          </a:xfrm>
          <a:prstGeom prst="ellipse">
            <a:avLst/>
          </a:prstGeom>
          <a:solidFill>
            <a:srgbClr val="1C2555"/>
          </a:solidFill>
          <a:ln w="19050">
            <a:solidFill>
              <a:srgbClr val="2DD9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3936" y="265176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393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069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 Silva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79392" y="169164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35424" y="19019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5CC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0" y="2487168"/>
            <a:ext cx="1005840" cy="1005840"/>
          </a:xfrm>
          <a:prstGeom prst="ellipse">
            <a:avLst/>
          </a:prstGeom>
          <a:solidFill>
            <a:srgbClr val="1C2555"/>
          </a:solidFill>
          <a:ln w="19050">
            <a:solidFill>
              <a:srgbClr val="5CC8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265176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4535424" y="36393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embarques confirmados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35424" y="4069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Luciana Turisco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91856" y="169164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47888" y="19019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9B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CÂMBIO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98864" y="2487168"/>
            <a:ext cx="1005840" cy="1005840"/>
          </a:xfrm>
          <a:prstGeom prst="ellipse">
            <a:avLst/>
          </a:prstGeom>
          <a:solidFill>
            <a:srgbClr val="1C2555"/>
          </a:solidFill>
          <a:ln w="19050">
            <a:solidFill>
              <a:srgbClr val="9B8C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98864" y="265176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B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8247888" y="36393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solicitações de cadastro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47888" y="4069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Gabriella Machado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Julia Guimarães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377440"/>
            <a:ext cx="6583680" cy="6583680"/>
          </a:xfrm>
          <a:prstGeom prst="ellipse">
            <a:avLst/>
          </a:prstGeom>
          <a:solidFill>
            <a:srgbClr val="1A4A3A">
              <a:alpha val="22000"/>
            </a:srgbClr>
          </a:solidFill>
          <a:ln w="12700">
            <a:solidFill>
              <a:srgbClr val="1A4A3A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6858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🔔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0" y="1572768"/>
            <a:ext cx="12188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 ATIVAÇÃO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0" y="1975104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Toca o sino!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1115568" y="3063240"/>
            <a:ext cx="5029200" cy="2148840"/>
          </a:xfrm>
          <a:prstGeom prst="roundRect">
            <a:avLst>
              <a:gd name="adj" fmla="val 5106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435608" y="327355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Eggerding Brasil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371246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Kaio Oliveira &amp; Julia Porto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35608" y="4133088"/>
            <a:ext cx="2834640" cy="502920"/>
          </a:xfrm>
          <a:prstGeom prst="roundRect">
            <a:avLst>
              <a:gd name="adj" fmla="val 45455"/>
            </a:avLst>
          </a:prstGeom>
          <a:solidFill>
            <a:srgbClr val="1C2555"/>
          </a:solidFill>
          <a:ln w="12700">
            <a:solidFill>
              <a:srgbClr val="2DD9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35608" y="423367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R$ 472.534,72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35608" y="47365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Ativado em 15/09/2026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93408" y="3063240"/>
            <a:ext cx="5029200" cy="2148840"/>
          </a:xfrm>
          <a:prstGeom prst="roundRect">
            <a:avLst>
              <a:gd name="adj" fmla="val 5106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13448" y="327355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 Fusion Brasil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013448" y="371246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Jarbas Vinícius &amp; Gal Silva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013448" y="4133088"/>
            <a:ext cx="2834640" cy="502920"/>
          </a:xfrm>
          <a:prstGeom prst="roundRect">
            <a:avLst>
              <a:gd name="adj" fmla="val 45455"/>
            </a:avLst>
          </a:prstGeom>
          <a:solidFill>
            <a:srgbClr val="1C2555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13448" y="423367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R$ 500.000,00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3448" y="47365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Ativado em 15/09/2026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20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8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500000">
                                      <p:cBhvr>
                                        <p:cTn id="109" dur="260" autoRev="1" fill="hold" repeatCount="6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0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300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5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5" dur="420" autoRev="1" fill="hold" repeatCount="2000"/>
                                        <p:tgtEl>
                                          <p:spTgt spid="10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30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0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0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0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0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150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0" dur="420" autoRev="1" fill="hold" repeatCount="2000"/>
                                        <p:tgtEl>
                                          <p:spTgt spid="16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ANIVERSARIANTES DO MÊS · SETEMBRO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Parabéns!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2578608" cy="1874520"/>
          </a:xfrm>
          <a:prstGeom prst="roundRect">
            <a:avLst>
              <a:gd name="adj" fmla="val 58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36192" y="1847088"/>
            <a:ext cx="640080" cy="640080"/>
          </a:xfrm>
          <a:prstGeom prst="ellipse">
            <a:avLst/>
          </a:prstGeom>
          <a:solidFill>
            <a:srgbClr val="5CC8FF"/>
          </a:solidFill>
          <a:ln w="12700">
            <a:solidFill>
              <a:srgbClr val="5CC8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36192" y="197510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560320"/>
            <a:ext cx="232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Cecília Moreira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871216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Executive Pleno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320040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02/09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46704" y="1645920"/>
            <a:ext cx="2578608" cy="1874520"/>
          </a:xfrm>
          <a:prstGeom prst="roundRect">
            <a:avLst>
              <a:gd name="adj" fmla="val 58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15968" y="1847088"/>
            <a:ext cx="640080" cy="640080"/>
          </a:xfrm>
          <a:prstGeom prst="ellipse">
            <a:avLst/>
          </a:prstGeom>
          <a:solidFill>
            <a:srgbClr val="2DD9A8"/>
          </a:solidFill>
          <a:ln w="12700">
            <a:solidFill>
              <a:srgbClr val="2DD9A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15968" y="197510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JM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560320"/>
            <a:ext cx="232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Mortara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2871216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320040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05/09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645920"/>
            <a:ext cx="2578608" cy="1874520"/>
          </a:xfrm>
          <a:prstGeom prst="roundRect">
            <a:avLst>
              <a:gd name="adj" fmla="val 58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095744" y="1847088"/>
            <a:ext cx="640080" cy="64008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95744" y="197510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54496" y="2560320"/>
            <a:ext cx="232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Rosenthal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54496" y="2871216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254496" y="320040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09/09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06256" y="1645920"/>
            <a:ext cx="2578608" cy="1874520"/>
          </a:xfrm>
          <a:prstGeom prst="roundRect">
            <a:avLst>
              <a:gd name="adj" fmla="val 58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75520" y="1847088"/>
            <a:ext cx="640080" cy="640080"/>
          </a:xfrm>
          <a:prstGeom prst="ellipse">
            <a:avLst/>
          </a:prstGeom>
          <a:solidFill>
            <a:srgbClr val="FF5C7A"/>
          </a:solidFill>
          <a:ln w="12700">
            <a:solidFill>
              <a:srgbClr val="FF5C7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75520" y="197510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034272" y="2560320"/>
            <a:ext cx="232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Henrique Pagnani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034272" y="2871216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Cobrança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320040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12/09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2578608" cy="1874520"/>
          </a:xfrm>
          <a:prstGeom prst="roundRect">
            <a:avLst>
              <a:gd name="adj" fmla="val 58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536192" y="3950208"/>
            <a:ext cx="640080" cy="640080"/>
          </a:xfrm>
          <a:prstGeom prst="ellipse">
            <a:avLst/>
          </a:prstGeom>
          <a:solidFill>
            <a:srgbClr val="9B8CFF"/>
          </a:solidFill>
          <a:ln w="12700">
            <a:solidFill>
              <a:srgbClr val="9B8C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36192" y="407822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94944" y="4663440"/>
            <a:ext cx="232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Pyetra Falcão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" y="4974336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de Marketing Pleno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94944" y="530352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13/09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346704" y="3749040"/>
            <a:ext cx="2578608" cy="1874520"/>
          </a:xfrm>
          <a:prstGeom prst="roundRect">
            <a:avLst>
              <a:gd name="adj" fmla="val 58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315968" y="3950208"/>
            <a:ext cx="640080" cy="640080"/>
          </a:xfrm>
          <a:prstGeom prst="ellipse">
            <a:avLst/>
          </a:prstGeom>
          <a:solidFill>
            <a:srgbClr val="5CC8FF"/>
          </a:solidFill>
          <a:ln w="12700">
            <a:solidFill>
              <a:srgbClr val="5CC8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15968" y="407822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474720" y="4663440"/>
            <a:ext cx="232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Machado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474720" y="4974336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Senior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3474720" y="530352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15/09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126480" y="3749040"/>
            <a:ext cx="2578608" cy="1874520"/>
          </a:xfrm>
          <a:prstGeom prst="roundRect">
            <a:avLst>
              <a:gd name="adj" fmla="val 58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095744" y="3950208"/>
            <a:ext cx="640080" cy="640080"/>
          </a:xfrm>
          <a:prstGeom prst="ellipse">
            <a:avLst/>
          </a:prstGeom>
          <a:solidFill>
            <a:srgbClr val="2DD9A8"/>
          </a:solidFill>
          <a:ln w="12700">
            <a:solidFill>
              <a:srgbClr val="2DD9A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095744" y="407822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254496" y="4663440"/>
            <a:ext cx="232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Tiago Viel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254496" y="4974336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Comercial Farmer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254496" y="530352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24/09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906256" y="3749040"/>
            <a:ext cx="2578608" cy="1874520"/>
          </a:xfrm>
          <a:prstGeom prst="roundRect">
            <a:avLst>
              <a:gd name="adj" fmla="val 58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875520" y="3950208"/>
            <a:ext cx="640080" cy="64008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407822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9034272" y="4663440"/>
            <a:ext cx="232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Hellen Almeida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9034272" y="4974336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Middle Office Senior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9034272" y="530352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28/09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ANIVERSÁRIOS DE CASA · SETEMBRO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Vixtra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285232" cy="1005840"/>
          </a:xfrm>
          <a:prstGeom prst="roundRect">
            <a:avLst>
              <a:gd name="adj" fmla="val 1090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86384" y="1929384"/>
            <a:ext cx="530352" cy="530352"/>
          </a:xfrm>
          <a:prstGeom prst="ellipse">
            <a:avLst/>
          </a:prstGeom>
          <a:solidFill>
            <a:srgbClr val="2DD9A8"/>
          </a:solidFill>
          <a:ln w="12700">
            <a:solidFill>
              <a:srgbClr val="2DD9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02996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02082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 Santos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50208" y="203911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ano de casa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138928" y="203911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01/09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44768" y="1691640"/>
            <a:ext cx="5285232" cy="1005840"/>
          </a:xfrm>
          <a:prstGeom prst="roundRect">
            <a:avLst>
              <a:gd name="adj" fmla="val 1090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64224" y="1929384"/>
            <a:ext cx="530352" cy="53035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64224" y="202996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59168" y="202082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Gelfi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528048" y="203911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anos de casa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716768" y="203911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08/09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926080"/>
            <a:ext cx="5285232" cy="1005840"/>
          </a:xfrm>
          <a:prstGeom prst="roundRect">
            <a:avLst>
              <a:gd name="adj" fmla="val 1090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86384" y="3163824"/>
            <a:ext cx="530352" cy="530352"/>
          </a:xfrm>
          <a:prstGeom prst="ellipse">
            <a:avLst/>
          </a:prstGeom>
          <a:solidFill>
            <a:srgbClr val="5CC8FF"/>
          </a:solidFill>
          <a:ln w="12700">
            <a:solidFill>
              <a:srgbClr val="5CC8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326440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A(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325526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Adriana (Dri)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950208" y="32735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anos de casa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138928" y="327355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08/09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44768" y="2926080"/>
            <a:ext cx="5285232" cy="1005840"/>
          </a:xfrm>
          <a:prstGeom prst="roundRect">
            <a:avLst>
              <a:gd name="adj" fmla="val 1090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64224" y="3163824"/>
            <a:ext cx="530352" cy="530352"/>
          </a:xfrm>
          <a:prstGeom prst="ellipse">
            <a:avLst/>
          </a:prstGeom>
          <a:solidFill>
            <a:srgbClr val="FF5C7A"/>
          </a:solidFill>
          <a:ln w="12700">
            <a:solidFill>
              <a:srgbClr val="FF5C7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64224" y="326440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325526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Rosenthal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528048" y="32735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anos de casa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716768" y="327355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08/09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160520"/>
            <a:ext cx="5285232" cy="1005840"/>
          </a:xfrm>
          <a:prstGeom prst="roundRect">
            <a:avLst>
              <a:gd name="adj" fmla="val 1090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86384" y="4398264"/>
            <a:ext cx="530352" cy="530352"/>
          </a:xfrm>
          <a:prstGeom prst="ellipse">
            <a:avLst/>
          </a:prstGeom>
          <a:solidFill>
            <a:srgbClr val="9B8CFF"/>
          </a:solidFill>
          <a:ln w="12700">
            <a:solidFill>
              <a:srgbClr val="9B8C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86384" y="449884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481328" y="448970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3950208" y="45079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anos de casa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138928" y="45079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08/09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44768" y="4160520"/>
            <a:ext cx="5285232" cy="1005840"/>
          </a:xfrm>
          <a:prstGeom prst="roundRect">
            <a:avLst>
              <a:gd name="adj" fmla="val 10909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64224" y="4398264"/>
            <a:ext cx="530352" cy="530352"/>
          </a:xfrm>
          <a:prstGeom prst="ellipse">
            <a:avLst/>
          </a:prstGeom>
          <a:solidFill>
            <a:srgbClr val="2DD9A8"/>
          </a:solidFill>
          <a:ln w="12700">
            <a:solidFill>
              <a:srgbClr val="2DD9A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64224" y="4498848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448970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Murilo Stiaque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528048" y="45079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anos de casa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0716768" y="45079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30/09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NOVO TALENTO NO TIME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0881360" cy="3566160"/>
          </a:xfrm>
          <a:prstGeom prst="roundRect">
            <a:avLst>
              <a:gd name="adj" fmla="val 3077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15568" y="2240280"/>
            <a:ext cx="2286000" cy="2286000"/>
          </a:xfrm>
          <a:prstGeom prst="roundRect">
            <a:avLst>
              <a:gd name="adj" fmla="val 8000"/>
            </a:avLst>
          </a:prstGeom>
          <a:solidFill>
            <a:srgbClr val="1C2555"/>
          </a:solidFill>
          <a:ln w="19050">
            <a:solidFill>
              <a:srgbClr val="5CC8FF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115568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67328" y="23774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 da pessoa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767328" y="303580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· Time · Chegou em DD/MM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3547872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"Uma frase de apresentação da pessoa — algo que o time descubra aqui e comente no corredor."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48640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Mantenha este slide por 7 dias após a chegada e depois esconda.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1" fill="hold">
                      <p:stCondLst>
                        <p:cond delay="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10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20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15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NOVIDADES DA EMPRESA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285232" cy="2286000"/>
          </a:xfrm>
          <a:prstGeom prst="roundRect">
            <a:avLst>
              <a:gd name="adj" fmla="val 4800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1965960"/>
            <a:ext cx="1051560" cy="310896"/>
          </a:xfrm>
          <a:prstGeom prst="roundRect">
            <a:avLst>
              <a:gd name="adj" fmla="val 47059"/>
            </a:avLst>
          </a:prstGeom>
          <a:solidFill>
            <a:srgbClr val="2E2A4D"/>
          </a:solidFill>
          <a:ln w="9525">
            <a:solidFill>
              <a:srgbClr val="9B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00253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3957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das salas Itajaí, Shanghai e Santos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017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Priorizadas para reuniões com 2+ pessoas. Reserva pela plataforma Control Room ou adicionando a sala desejada no invite da reunião.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63056" y="1737360"/>
            <a:ext cx="5285232" cy="2286000"/>
          </a:xfrm>
          <a:prstGeom prst="roundRect">
            <a:avLst>
              <a:gd name="adj" fmla="val 4800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37376" y="1965960"/>
            <a:ext cx="1234440" cy="310896"/>
          </a:xfrm>
          <a:prstGeom prst="roundRect">
            <a:avLst>
              <a:gd name="adj" fmla="val 47059"/>
            </a:avLst>
          </a:prstGeom>
          <a:solidFill>
            <a:srgbClr val="3D2E1A"/>
          </a:solidFill>
          <a:ln w="9525">
            <a:solidFill>
              <a:srgbClr val="FFB6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7376" y="20025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CRÉDITO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23957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aprovado chega a R$ 3,0M no mês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3017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do limite de crédito aprovado nas ativações de setembro. Reflete direto no ritmo de fechamento do mês.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224528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" y="464515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livre para a novidade do mês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COTAÇÃO DE MOEDAS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Câmbio do dia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429000" cy="1783080"/>
          </a:xfrm>
          <a:prstGeom prst="roundRect">
            <a:avLst>
              <a:gd name="adj" fmla="val 61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USD / BRL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48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Dólar americano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597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R$ 5,14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44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5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-0,33% hoje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1691640"/>
            <a:ext cx="3429000" cy="1783080"/>
          </a:xfrm>
          <a:prstGeom prst="roundRect">
            <a:avLst>
              <a:gd name="adj" fmla="val 61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35424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C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 / BRL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2148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35424" y="24597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R$ 5,91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535424" y="3044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5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-0,04% hoje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91856" y="1691640"/>
            <a:ext cx="3429000" cy="1783080"/>
          </a:xfrm>
          <a:prstGeom prst="roundRect">
            <a:avLst>
              <a:gd name="adj" fmla="val 61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47888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2DD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GBP / BRL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148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 esterlina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47888" y="24597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R$ 6,82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3044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5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-1,11% hoje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749040"/>
            <a:ext cx="3429000" cy="1783080"/>
          </a:xfrm>
          <a:prstGeom prst="roundRect">
            <a:avLst>
              <a:gd name="adj" fmla="val 61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22960" y="3931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FF5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USDT / BRL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2062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Tether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5171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1023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estável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79392" y="3749040"/>
            <a:ext cx="3429000" cy="1783080"/>
          </a:xfrm>
          <a:prstGeom prst="roundRect">
            <a:avLst>
              <a:gd name="adj" fmla="val 61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535424" y="3931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9B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USDC / BRL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35424" y="42062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Coin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35424" y="45171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R$ 5,02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4535424" y="51023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estável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91856" y="3749040"/>
            <a:ext cx="3429000" cy="1783080"/>
          </a:xfrm>
          <a:prstGeom prst="roundRect">
            <a:avLst>
              <a:gd name="adj" fmla="val 615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8247888" y="3931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BTC / BRL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247888" y="42062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47888" y="45171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R$ 435.261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8247888" y="51023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+4,44% hoje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57607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Cotações de 21/09/2026 · fonte: DolarHoje. Clique em cada valor para atualizar antes de exibir.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MANUTENÇÃO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atualizar todo mês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 COMERCIAL · VIXTRA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964424" y="6382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Setembro /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10881360" cy="749808"/>
          </a:xfrm>
          <a:prstGeom prst="roundRect">
            <a:avLst>
              <a:gd name="adj" fmla="val 1463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86384" y="1773936"/>
            <a:ext cx="402336" cy="402336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182880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17099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e realizado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44168" y="198424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HubSpot &gt; Dashboard 16374963. Copie "Volume Ativado - Este mês", "Clientes Ativados" e "Limite de Crédito Ativado".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468880"/>
            <a:ext cx="10881360" cy="749808"/>
          </a:xfrm>
          <a:prstGeom prst="roundRect">
            <a:avLst>
              <a:gd name="adj" fmla="val 1463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86384" y="2642616"/>
            <a:ext cx="402336" cy="402336"/>
          </a:xfrm>
          <a:prstGeom prst="ellipse">
            <a:avLst/>
          </a:prstGeom>
          <a:solidFill>
            <a:srgbClr val="2DD9A8"/>
          </a:solidFill>
          <a:ln w="12700">
            <a:solidFill>
              <a:srgbClr val="2DD9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69748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44168" y="2578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44168" y="285292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dashboard: "Forecasting do quarter", coluna do mês. Farming: dashboard 17934028.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337560"/>
            <a:ext cx="10881360" cy="749808"/>
          </a:xfrm>
          <a:prstGeom prst="roundRect">
            <a:avLst>
              <a:gd name="adj" fmla="val 1463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86384" y="3511296"/>
            <a:ext cx="402336" cy="402336"/>
          </a:xfrm>
          <a:prstGeom prst="ellipse">
            <a:avLst/>
          </a:prstGeom>
          <a:solidFill>
            <a:srgbClr val="5CC8FF"/>
          </a:solidFill>
          <a:ln w="12700">
            <a:solidFill>
              <a:srgbClr val="5CC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56616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44168" y="34472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Parcerias e áreas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344168" y="372160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Hunting 20139959 · Farming 17422192 · Retargeting 20142518 · Câmbio 19074932 · Frete 19471670.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206240"/>
            <a:ext cx="10881360" cy="749808"/>
          </a:xfrm>
          <a:prstGeom prst="roundRect">
            <a:avLst>
              <a:gd name="adj" fmla="val 1463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86384" y="4379976"/>
            <a:ext cx="402336" cy="402336"/>
          </a:xfrm>
          <a:prstGeom prst="ellipse">
            <a:avLst/>
          </a:prstGeom>
          <a:solidFill>
            <a:srgbClr val="FF5C7A"/>
          </a:solidFill>
          <a:ln w="12700">
            <a:solidFill>
              <a:srgbClr val="FF5C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44348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344168" y="43159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Ativações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44168" y="459028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#celebrations no Slack: copie as ativações dos últimos 5 dias.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0881360" cy="749808"/>
          </a:xfrm>
          <a:prstGeom prst="roundRect">
            <a:avLst>
              <a:gd name="adj" fmla="val 14634"/>
            </a:avLst>
          </a:prstGeom>
          <a:solidFill>
            <a:srgbClr val="161E48"/>
          </a:solidFill>
          <a:ln w="9525">
            <a:solidFill>
              <a:srgbClr val="2A346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86384" y="5248656"/>
            <a:ext cx="402336" cy="402336"/>
          </a:xfrm>
          <a:prstGeom prst="ellipse">
            <a:avLst/>
          </a:prstGeom>
          <a:solidFill>
            <a:srgbClr val="9B8CFF"/>
          </a:solidFill>
          <a:ln w="12700">
            <a:solidFill>
              <a:srgbClr val="9B8C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" y="530352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44168" y="51846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Aniversários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344168" y="545896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Planilhas de aniversários e tempo de casa, filtrando pelo mês novo.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0350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Dica: guarde uma cópia deste arquivo como modelo e trabalhe sempre sobre uma duplicata do mês anterior.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TV Comercial Vixtra</dc:title>
  <dc:subject>PptxGenJS Presentation</dc:subject>
  <dc:creator>Vixtra</dc:creator>
  <cp:lastModifiedBy>Vixtra</cp:lastModifiedBy>
  <cp:revision>1</cp:revision>
  <dcterms:created xsi:type="dcterms:W3CDTF">2026-09-21T19:51:06Z</dcterms:created>
  <dcterms:modified xsi:type="dcterms:W3CDTF">2026-09-21T19:51:06Z</dcterms:modified>
</cp:coreProperties>
</file>