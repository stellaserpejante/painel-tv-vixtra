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Aumento de Volume Tomado</c:v>
                </c:pt>
              </c:strCache>
            </c:strRef>
          </c:tx>
          <c:spPr>
            <a:solidFill>
              <a:srgbClr val="2DD9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Antonio Mourão</c:v>
                  </c:pt>
                  <c:pt idx="1">
                    <c:v>André Vitoretti</c:v>
                  </c:pt>
                  <c:pt idx="2">
                    <c:v>Carlos Ferrarezi</c:v>
                  </c:pt>
                  <c:pt idx="3">
                    <c:v>Tiago Viel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10343215</c:v>
                </c:pt>
                <c:pt idx="1">
                  <c:v>0</c:v>
                </c:pt>
                <c:pt idx="2">
                  <c:v>600000</c:v>
                </c:pt>
                <c:pt idx="3">
                  <c:v>2000000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Renovação</c:v>
                </c:pt>
              </c:strCache>
            </c:strRef>
          </c:tx>
          <c:spPr>
            <a:solidFill>
              <a:srgbClr val="5CC8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Antonio Mourão</c:v>
                  </c:pt>
                  <c:pt idx="1">
                    <c:v>André Vitoretti</c:v>
                  </c:pt>
                  <c:pt idx="2">
                    <c:v>Carlos Ferrarezi</c:v>
                  </c:pt>
                  <c:pt idx="3">
                    <c:v>Tiago Viel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14116000</c:v>
                </c:pt>
                <c:pt idx="1">
                  <c:v>4519000</c:v>
                </c:pt>
                <c:pt idx="2">
                  <c:v>3590043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4F6F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A3468"/>
              </a:solidFill>
              <a:prstDash val="solid"/>
              <a:round/>
            </a:ln>
          </c:spPr>
        </c:majorGridlines>
        <c:numFmt formatCode="R$ #,##0,,&quot;M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C94B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0F26"/>
        </a:solidFill>
        <a:ln w="12700" cap="flat">
          <a:solidFill>
            <a:srgbClr val="0A0F26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8C94BE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A0F2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Dados extraídos do HubSpot e do Slack em 21/09/2026. Para atualizar no mês seguinte, siga o roteiro do último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Fonte: HubSpot, relatórios "Volume Ativado - Este mês" (140792840), "Clientes Ativados - Este mês" (149250442) e "Limite de Crédito Ativado - Este mês" (148884903).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Fonte: HubSpot, relatório "Forecasting do quarter - Por mês (volume)" (140793599), recorte do mês vigente.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Forecasting por farmer. Antonio Mourão: R$ 10.343.215 de aumento e R$ 14.116.000 de renovação. André Vitoretti: R$ 4.519.000 de renovação. Carlos Ferrarezi: R$ 600.000 de aumento e R$ 3.590.043 de renovação. Tiago Viel: R$ 2.000.000 de aumento. Para editar os números, clique no gráfico e abra a planilha.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Substitua o retângulo tracejado pela imagem do gráfico de evolução da carteira. Atualização sugerida: a cada 2 dias.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Closing: agrupamento por proprietário das ativações do mês. Parcerias: agrupamento pela pessoa de BDR/parceria do negócio.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Retargeting: relatório 169016141. Frete: relatório 169003255. Câmbio: relatório 161366173, número consolidado da dupla.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Ativações detectadas no canal #celebrations do Slack. Mantenha no deck por 5 dias e depois substitua pelas próximas.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Fonte: planilha "Aniversários Consolidado 2026". Troque a lista pelo mês seguinte — outubro tem 9 aniversariantes.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Fonte: planilha "Tempo de casa Vixtra". Dois nomes vieram como apelido na planilha (Dri e Leo) — vale confirmar o nome 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Modelo. Duplique quando entrar mais de uma pessoa. Para esconder sem apagar: botão direito no slide &gt; Ocultar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conteúdo é manual: permanece até alguém trocar.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Cotações capturadas em 21/09/2026. Tether e USD Coin aparecem como estáveis porque a fonte não publica variação diária para elas. Atualize antes de exibir, ou oculte este slide nos dias em que não for atualizar.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Dados desta versão extraídos em 21/09/2026.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011680"/>
            <a:ext cx="6766560" cy="6766560"/>
          </a:xfrm>
          <a:prstGeom prst="ellipse">
            <a:avLst/>
          </a:prstGeom>
          <a:solidFill>
            <a:srgbClr val="12306B">
              <a:alpha val="28000"/>
            </a:srgbClr>
          </a:solidFill>
          <a:ln w="12700">
            <a:solidFill>
              <a:srgbClr val="12306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194560" y="4023360"/>
            <a:ext cx="5852160" cy="5852160"/>
          </a:xfrm>
          <a:prstGeom prst="ellipse">
            <a:avLst/>
          </a:prstGeom>
          <a:solidFill>
            <a:srgbClr val="4A3A12">
              <a:alpha val="24000"/>
            </a:srgbClr>
          </a:solidFill>
          <a:ln w="12700">
            <a:solidFill>
              <a:srgbClr val="4A3A12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20574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2D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AO VIVO · PAINEL INTERNO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487168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 Comercial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3611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 da operação · Setembro 2026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66928" y="4434840"/>
            <a:ext cx="2971800" cy="1234440"/>
          </a:xfrm>
          <a:prstGeom prst="roundRect">
            <a:avLst>
              <a:gd name="adj" fmla="val 8889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455371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D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1389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meta do mês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858768" y="4434840"/>
            <a:ext cx="2971800" cy="1234440"/>
          </a:xfrm>
          <a:prstGeom prst="roundRect">
            <a:avLst>
              <a:gd name="adj" fmla="val 8889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114800" y="455371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B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51389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ativados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150608" y="4434840"/>
            <a:ext cx="2971800" cy="1234440"/>
          </a:xfrm>
          <a:prstGeom prst="roundRect">
            <a:avLst>
              <a:gd name="adj" fmla="val 8889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406640" y="455371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5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R$ 17,3M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7406640" y="51389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quente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PROGRESSO DA META · SETEMBRO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do mês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TV COMERCIAL · VIXTRA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964424" y="6382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Setembro / 2026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481328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pPr indent="0" marL="0">
              <a:buNone/>
            </a:pPr>
            <a:r>
              <a:rPr lang="en-US" sz="8800" b="1" dirty="0">
                <a:solidFill>
                  <a:srgbClr val="2DD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8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7432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meta atingida — faltam R$ 10.927.465 para bater o mês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6928" y="3246120"/>
            <a:ext cx="10881360" cy="310896"/>
          </a:xfrm>
          <a:prstGeom prst="roundRect">
            <a:avLst>
              <a:gd name="adj" fmla="val 47059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3246120"/>
            <a:ext cx="1741018" cy="310896"/>
          </a:xfrm>
          <a:prstGeom prst="roundRect">
            <a:avLst>
              <a:gd name="adj" fmla="val 47059"/>
            </a:avLst>
          </a:prstGeom>
          <a:solidFill>
            <a:srgbClr val="2DD9A8"/>
          </a:solidFill>
          <a:ln w="6350">
            <a:solidFill>
              <a:srgbClr val="2DD9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3630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R$ 2.072.534,72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876288" y="3630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Meta: R$ 13.000.000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4114800"/>
            <a:ext cx="3383280" cy="1051560"/>
          </a:xfrm>
          <a:prstGeom prst="roundRect">
            <a:avLst>
              <a:gd name="adj" fmla="val 10435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04672" y="422452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B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" y="47274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ativados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24528" y="4114800"/>
            <a:ext cx="3383280" cy="1051560"/>
          </a:xfrm>
          <a:prstGeom prst="roundRect">
            <a:avLst>
              <a:gd name="adj" fmla="val 10435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462272" y="422452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R$ 3.000.000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4462272" y="47274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 aprovado no mês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0" y="4114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CLIENTES ATIVADOS NO MÊS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0" y="44348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Pneutek — R$ 600.000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Texol Brasil — R$ 500.000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Fusion Brasil — R$ 500.000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Eggerding Brasil — R$ 472.535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DE CLOSING · SETEMBRO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Negócios em aprovação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TV COMERCIAL · VIXTRA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964424" y="6382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Setembro /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429000" cy="1234440"/>
          </a:xfrm>
          <a:prstGeom prst="roundRect">
            <a:avLst>
              <a:gd name="adj" fmla="val 8889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04672" y="1600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🔥 Quente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19202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5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R$ 17,3M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279392" y="1481328"/>
            <a:ext cx="3429000" cy="1234440"/>
          </a:xfrm>
          <a:prstGeom prst="roundRect">
            <a:avLst>
              <a:gd name="adj" fmla="val 8889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17136" y="1600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🌤 Morno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17136" y="19202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B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R$ 22,4M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7991856" y="1481328"/>
            <a:ext cx="3429000" cy="1234440"/>
          </a:xfrm>
          <a:prstGeom prst="roundRect">
            <a:avLst>
              <a:gd name="adj" fmla="val 8889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9600" y="1600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❄ Frio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19202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R$ 5,0M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3035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 3 NEGÓCIOS EM DESTAQUE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3401568"/>
            <a:ext cx="10881360" cy="786384"/>
          </a:xfrm>
          <a:prstGeom prst="roundRect">
            <a:avLst>
              <a:gd name="adj" fmla="val 13953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41248" y="351129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Integralmedica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382219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Carolina Andrade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504688" y="363931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R$ 5.000.000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985248" y="3639312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1C2555"/>
          </a:solidFill>
          <a:ln w="12700">
            <a:solidFill>
              <a:srgbClr val="FF5C7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985248" y="36758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5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quente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6928" y="4315968"/>
            <a:ext cx="10881360" cy="786384"/>
          </a:xfrm>
          <a:prstGeom prst="roundRect">
            <a:avLst>
              <a:gd name="adj" fmla="val 13953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41248" y="442569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Aço Cearense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41248" y="473659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Jarbas Vinícius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504688" y="455371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R$ 5.000.000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985248" y="4553712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1C2555"/>
          </a:solidFill>
          <a:ln w="12700">
            <a:solidFill>
              <a:srgbClr val="FF5C7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985248" y="45902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5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quente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6928" y="5230368"/>
            <a:ext cx="10881360" cy="786384"/>
          </a:xfrm>
          <a:prstGeom prst="roundRect">
            <a:avLst>
              <a:gd name="adj" fmla="val 13953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841248" y="534009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Azul Pack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841248" y="565099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Jarbas Vinícius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504688" y="546811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R$ 5.000.000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9985248" y="5468112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1C2555"/>
          </a:solidFill>
          <a:ln w="12700">
            <a:solidFill>
              <a:srgbClr val="FF5C7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985248" y="55046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5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quente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DE FARMING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Forecasting por Farmer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TV COMERCIAL · VIXTRA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964424" y="6382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Setembro / 2026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66928" y="1572768"/>
          <a:ext cx="77724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686800" y="1737360"/>
            <a:ext cx="2926080" cy="1005840"/>
          </a:xfrm>
          <a:prstGeom prst="roundRect">
            <a:avLst>
              <a:gd name="adj" fmla="val 10909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887968" y="18562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Aumento de volume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8887968" y="213969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D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R$ 12,9M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8686800" y="2971800"/>
            <a:ext cx="2926080" cy="1005840"/>
          </a:xfrm>
          <a:prstGeom prst="roundRect">
            <a:avLst>
              <a:gd name="adj" fmla="val 10909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8887968" y="30906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Renovação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8887968" y="337413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R$ 22,2M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8686800" y="4206240"/>
            <a:ext cx="2926080" cy="1005840"/>
          </a:xfrm>
          <a:prstGeom prst="roundRect">
            <a:avLst>
              <a:gd name="adj" fmla="val 10909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8887968" y="43251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previsto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8887968" y="460857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B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R$ 35,2M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EVOLUÇÃO DA CARTEIRA · ÚLTIMOS 30 DIAS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Carteira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TV COMERCIAL · VIXTRA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964424" y="6382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Setembro /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600200"/>
            <a:ext cx="10881360" cy="4160520"/>
          </a:xfrm>
          <a:prstGeom prst="roundRect">
            <a:avLst>
              <a:gd name="adj" fmla="val 2198"/>
            </a:avLst>
          </a:prstGeom>
          <a:solidFill>
            <a:srgbClr val="161E48"/>
          </a:solidFill>
          <a:ln w="12700">
            <a:solidFill>
              <a:srgbClr val="2A3468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566928" y="32004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 aqui o gráfico da carteira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370332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 a imagem do CR2 e cole sobre esta área. O retângulo tracejado some quando a imagem cobre ele.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58704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Fonte: CR2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DESEMPENHO DOS VENDEDORES · SETEMBRO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e parcerias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TV COMERCIAL · VIXTRA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964424" y="6382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Setembro /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3931920" cy="3566160"/>
          </a:xfrm>
          <a:prstGeom prst="roundRect">
            <a:avLst>
              <a:gd name="adj" fmla="val 3077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1755648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CLOSING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67712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9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25296" y="2194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Guilherme Belotto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25296" y="246888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negócios ativados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225296" y="268833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R$ 1.100.000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054096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9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25296" y="29809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Jarbas Vinícius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25296" y="325526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negócio ativado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225296" y="34747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R$ 500.000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3840480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9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25296" y="37673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Kaio Oliveira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25296" y="404164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negócio ativado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25296" y="42611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R$ 472.535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27448" y="1572768"/>
            <a:ext cx="3931920" cy="3566160"/>
          </a:xfrm>
          <a:prstGeom prst="roundRect">
            <a:avLst>
              <a:gd name="adj" fmla="val 3077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983480" y="1755648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2D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PARCERIAS · FARMING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983480" y="2267712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9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385816" y="2194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Matheus Ferreira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385816" y="246888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oportunidades no mês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385816" y="268833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7,0 pontos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983480" y="3054096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9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385816" y="29809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Julia Porto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385816" y="325526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oportunidades no mês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5385816" y="34747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2,5 pontos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887968" y="1572768"/>
            <a:ext cx="2560320" cy="3566160"/>
          </a:xfrm>
          <a:prstGeom prst="roundRect">
            <a:avLst>
              <a:gd name="adj" fmla="val 4286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9144000" y="17556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5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PARCERIAS · HUNTING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573768" y="2377440"/>
            <a:ext cx="1188720" cy="1188720"/>
          </a:xfrm>
          <a:prstGeom prst="ellipse">
            <a:avLst/>
          </a:prstGeom>
          <a:solidFill>
            <a:srgbClr val="1C2555"/>
          </a:solidFill>
          <a:ln w="19050">
            <a:solidFill>
              <a:srgbClr val="5CC8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573768" y="260604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000" dirty="0"/>
          </a:p>
        </p:txBody>
      </p:sp>
      <p:sp>
        <p:nvSpPr>
          <p:cNvPr id="34" name="Text 32"/>
          <p:cNvSpPr txBox="1"/>
          <p:nvPr/>
        </p:nvSpPr>
        <p:spPr>
          <a:xfrm>
            <a:off x="9025128" y="37307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 no mês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9025128" y="41605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Fabio Papa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Matheus Ferreira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566928" y="53949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Pontuação de farming: Small Lead = Sim vale 0,5 · Small Lead = Não vale 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DESEMPENHO DOS VENDEDORES · SETEMBRO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Retargeting, frete e câmbio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TV COMERCIAL · VIXTRA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964424" y="6382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Setembro /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190195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2D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ONBOARDING E RETARGETING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73936" y="2487168"/>
            <a:ext cx="1005840" cy="1005840"/>
          </a:xfrm>
          <a:prstGeom prst="ellipse">
            <a:avLst/>
          </a:prstGeom>
          <a:solidFill>
            <a:srgbClr val="1C2555"/>
          </a:solidFill>
          <a:ln w="19050">
            <a:solidFill>
              <a:srgbClr val="2DD9A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773936" y="265176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DD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6393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0690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 Silva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79392" y="169164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535424" y="190195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5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0" y="2487168"/>
            <a:ext cx="1005840" cy="1005840"/>
          </a:xfrm>
          <a:prstGeom prst="ellipse">
            <a:avLst/>
          </a:prstGeom>
          <a:solidFill>
            <a:srgbClr val="1C2555"/>
          </a:solidFill>
          <a:ln w="19050">
            <a:solidFill>
              <a:srgbClr val="5CC8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0" y="265176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4535424" y="36393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embarques confirmados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35424" y="40690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Luciana Turisco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991856" y="169164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247888" y="190195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9B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CÂMBIO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98864" y="2487168"/>
            <a:ext cx="1005840" cy="1005840"/>
          </a:xfrm>
          <a:prstGeom prst="ellipse">
            <a:avLst/>
          </a:prstGeom>
          <a:solidFill>
            <a:srgbClr val="1C2555"/>
          </a:solidFill>
          <a:ln w="19050">
            <a:solidFill>
              <a:srgbClr val="9B8C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98864" y="265176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200" dirty="0"/>
          </a:p>
        </p:txBody>
      </p:sp>
      <p:sp>
        <p:nvSpPr>
          <p:cNvPr id="22" name="Text 20"/>
          <p:cNvSpPr txBox="1"/>
          <p:nvPr/>
        </p:nvSpPr>
        <p:spPr>
          <a:xfrm>
            <a:off x="8247888" y="36393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solicitações de cadastro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247888" y="40690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Gabriella Machado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Julia Guimarães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377440"/>
            <a:ext cx="6583680" cy="6583680"/>
          </a:xfrm>
          <a:prstGeom prst="ellipse">
            <a:avLst/>
          </a:prstGeom>
          <a:solidFill>
            <a:srgbClr val="1A4A3A">
              <a:alpha val="22000"/>
            </a:srgbClr>
          </a:solidFill>
          <a:ln w="12700">
            <a:solidFill>
              <a:srgbClr val="1A4A3A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0" y="68580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🔔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0" y="1572768"/>
            <a:ext cx="12188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NOVA ATIVAÇÃO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0" y="1975104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Toca o sino!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1115568" y="3063240"/>
            <a:ext cx="5029200" cy="2148840"/>
          </a:xfrm>
          <a:prstGeom prst="roundRect">
            <a:avLst>
              <a:gd name="adj" fmla="val 5106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435608" y="3273552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Eggerding Brasil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435608" y="371246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Kaio Oliveira &amp; Julia Porto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435608" y="4133088"/>
            <a:ext cx="2834640" cy="502920"/>
          </a:xfrm>
          <a:prstGeom prst="roundRect">
            <a:avLst>
              <a:gd name="adj" fmla="val 45455"/>
            </a:avLst>
          </a:prstGeom>
          <a:solidFill>
            <a:srgbClr val="1C2555"/>
          </a:solidFill>
          <a:ln w="12700">
            <a:solidFill>
              <a:srgbClr val="2DD9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35608" y="423367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R$ 472.534,72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435608" y="47365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Ativado em 15/09/2026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693408" y="3063240"/>
            <a:ext cx="5029200" cy="2148840"/>
          </a:xfrm>
          <a:prstGeom prst="roundRect">
            <a:avLst>
              <a:gd name="adj" fmla="val 5106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013448" y="3273552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 Fusion Brasil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7013448" y="371246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Jarbas Vinícius &amp; Gal Silva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013448" y="4133088"/>
            <a:ext cx="2834640" cy="502920"/>
          </a:xfrm>
          <a:prstGeom prst="roundRect">
            <a:avLst>
              <a:gd name="adj" fmla="val 45455"/>
            </a:avLst>
          </a:prstGeom>
          <a:solidFill>
            <a:srgbClr val="1C2555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13448" y="423367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R$ 500.000,00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013448" y="47365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Ativado em 15/09/2026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6382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TV COMERCIAL · VIXTRA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7964424" y="6382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Setembro / 2026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1" fill="hold">
                      <p:stCondLst>
                        <p:cond delay="0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20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500000">
                                      <p:cBhvr>
                                        <p:cTn id="109" dur="260" autoRev="1" fill="hold" repeatCount="6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0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0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300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0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0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0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0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150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5" dur="420" autoRev="1" fill="hold" repeatCount="2000"/>
                                        <p:tgtEl>
                                          <p:spTgt spid="10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300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0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6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0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0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150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90" dur="420" autoRev="1" fill="hold" repeatCount="2000"/>
                                        <p:tgtEl>
                                          <p:spTgt spid="16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ANIVERSARIANTES DO MÊS · SETEMBRO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Parabéns!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TV COMERCIAL · VIXTRA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964424" y="6382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Setembro /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2578608" cy="1874520"/>
          </a:xfrm>
          <a:prstGeom prst="roundRect">
            <a:avLst>
              <a:gd name="adj" fmla="val 5854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36192" y="1847088"/>
            <a:ext cx="640080" cy="640080"/>
          </a:xfrm>
          <a:prstGeom prst="ellipse">
            <a:avLst/>
          </a:prstGeom>
          <a:solidFill>
            <a:srgbClr val="5CC8FF"/>
          </a:solidFill>
          <a:ln w="12700">
            <a:solidFill>
              <a:srgbClr val="5CC8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536192" y="197510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94944" y="2560320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Cecília Moreira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2871216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Executive Pleno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94944" y="3200400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02/09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46704" y="1645920"/>
            <a:ext cx="2578608" cy="1874520"/>
          </a:xfrm>
          <a:prstGeom prst="roundRect">
            <a:avLst>
              <a:gd name="adj" fmla="val 5854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15968" y="1847088"/>
            <a:ext cx="640080" cy="640080"/>
          </a:xfrm>
          <a:prstGeom prst="ellipse">
            <a:avLst/>
          </a:prstGeom>
          <a:solidFill>
            <a:srgbClr val="2DD9A8"/>
          </a:solidFill>
          <a:ln w="12700">
            <a:solidFill>
              <a:srgbClr val="2DD9A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15968" y="197510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JM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2560320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Jorge Mortara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474720" y="2871216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3200400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05/09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645920"/>
            <a:ext cx="2578608" cy="1874520"/>
          </a:xfrm>
          <a:prstGeom prst="roundRect">
            <a:avLst>
              <a:gd name="adj" fmla="val 5854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095744" y="1847088"/>
            <a:ext cx="640080" cy="640080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95744" y="197510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254496" y="2560320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Guilherme Rosenthal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254496" y="2871216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254496" y="3200400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09/09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906256" y="1645920"/>
            <a:ext cx="2578608" cy="1874520"/>
          </a:xfrm>
          <a:prstGeom prst="roundRect">
            <a:avLst>
              <a:gd name="adj" fmla="val 5854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875520" y="1847088"/>
            <a:ext cx="640080" cy="640080"/>
          </a:xfrm>
          <a:prstGeom prst="ellipse">
            <a:avLst/>
          </a:prstGeom>
          <a:solidFill>
            <a:srgbClr val="FF5C7A"/>
          </a:solidFill>
          <a:ln w="12700">
            <a:solidFill>
              <a:srgbClr val="FF5C7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875520" y="197510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034272" y="2560320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Henrique Pagnani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034272" y="2871216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 de Cobrança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9034272" y="3200400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12/09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6928" y="3749040"/>
            <a:ext cx="2578608" cy="1874520"/>
          </a:xfrm>
          <a:prstGeom prst="roundRect">
            <a:avLst>
              <a:gd name="adj" fmla="val 5854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536192" y="3950208"/>
            <a:ext cx="640080" cy="640080"/>
          </a:xfrm>
          <a:prstGeom prst="ellipse">
            <a:avLst/>
          </a:prstGeom>
          <a:solidFill>
            <a:srgbClr val="9B8CFF"/>
          </a:solidFill>
          <a:ln w="12700">
            <a:solidFill>
              <a:srgbClr val="9B8C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536192" y="407822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694944" y="4663440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Pyetra Falcão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94944" y="4974336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de Marketing Pleno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694944" y="5303520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13/09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346704" y="3749040"/>
            <a:ext cx="2578608" cy="1874520"/>
          </a:xfrm>
          <a:prstGeom prst="roundRect">
            <a:avLst>
              <a:gd name="adj" fmla="val 5854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315968" y="3950208"/>
            <a:ext cx="640080" cy="640080"/>
          </a:xfrm>
          <a:prstGeom prst="ellipse">
            <a:avLst/>
          </a:prstGeom>
          <a:solidFill>
            <a:srgbClr val="5CC8FF"/>
          </a:solidFill>
          <a:ln w="12700">
            <a:solidFill>
              <a:srgbClr val="5CC8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315968" y="407822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3474720" y="4663440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Guilherme Machado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3474720" y="4974336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 Senior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3474720" y="5303520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15/09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126480" y="3749040"/>
            <a:ext cx="2578608" cy="1874520"/>
          </a:xfrm>
          <a:prstGeom prst="roundRect">
            <a:avLst>
              <a:gd name="adj" fmla="val 5854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095744" y="3950208"/>
            <a:ext cx="640080" cy="640080"/>
          </a:xfrm>
          <a:prstGeom prst="ellipse">
            <a:avLst/>
          </a:prstGeom>
          <a:solidFill>
            <a:srgbClr val="2DD9A8"/>
          </a:solidFill>
          <a:ln w="12700">
            <a:solidFill>
              <a:srgbClr val="2DD9A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095744" y="407822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6254496" y="4663440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Tiago Viel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6254496" y="4974336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 Comercial Farmer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6254496" y="5303520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24/09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906256" y="3749040"/>
            <a:ext cx="2578608" cy="1874520"/>
          </a:xfrm>
          <a:prstGeom prst="roundRect">
            <a:avLst>
              <a:gd name="adj" fmla="val 5854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9875520" y="3950208"/>
            <a:ext cx="640080" cy="640080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875520" y="407822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</a:t>
            </a:r>
            <a:endParaRPr lang="en-US" sz="1600" dirty="0"/>
          </a:p>
        </p:txBody>
      </p:sp>
      <p:sp>
        <p:nvSpPr>
          <p:cNvPr id="51" name="Text 49"/>
          <p:cNvSpPr txBox="1"/>
          <p:nvPr/>
        </p:nvSpPr>
        <p:spPr>
          <a:xfrm>
            <a:off x="9034272" y="4663440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Hellen Almeida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9034272" y="4974336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Middle Office Senior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9034272" y="5303520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28/09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ANIVERSÁRIOS DE CASA · SETEMBRO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de Vixtra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TV COMERCIAL · VIXTRA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964424" y="6382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Setembro /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5285232" cy="1005840"/>
          </a:xfrm>
          <a:prstGeom prst="roundRect">
            <a:avLst>
              <a:gd name="adj" fmla="val 10909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86384" y="1929384"/>
            <a:ext cx="530352" cy="530352"/>
          </a:xfrm>
          <a:prstGeom prst="ellipse">
            <a:avLst/>
          </a:prstGeom>
          <a:solidFill>
            <a:srgbClr val="2DD9A8"/>
          </a:solidFill>
          <a:ln w="12700">
            <a:solidFill>
              <a:srgbClr val="2DD9A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6384" y="202996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481328" y="202082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Franklin Santos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950208" y="20391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ano de casa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138928" y="203911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01/09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44768" y="1691640"/>
            <a:ext cx="5285232" cy="1005840"/>
          </a:xfrm>
          <a:prstGeom prst="roundRect">
            <a:avLst>
              <a:gd name="adj" fmla="val 10909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64224" y="1929384"/>
            <a:ext cx="530352" cy="530352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64224" y="202996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CG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059168" y="202082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Caio Gelfi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9528048" y="20391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anos de casa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0716768" y="203911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08/09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2926080"/>
            <a:ext cx="5285232" cy="1005840"/>
          </a:xfrm>
          <a:prstGeom prst="roundRect">
            <a:avLst>
              <a:gd name="adj" fmla="val 10909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86384" y="3163824"/>
            <a:ext cx="530352" cy="530352"/>
          </a:xfrm>
          <a:prstGeom prst="ellipse">
            <a:avLst/>
          </a:prstGeom>
          <a:solidFill>
            <a:srgbClr val="5CC8FF"/>
          </a:solidFill>
          <a:ln w="12700">
            <a:solidFill>
              <a:srgbClr val="5CC8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86384" y="326440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A(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481328" y="325526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Adriana (Dri)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950208" y="327355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anos de casa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138928" y="327355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08/09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44768" y="2926080"/>
            <a:ext cx="5285232" cy="1005840"/>
          </a:xfrm>
          <a:prstGeom prst="roundRect">
            <a:avLst>
              <a:gd name="adj" fmla="val 10909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64224" y="3163824"/>
            <a:ext cx="530352" cy="530352"/>
          </a:xfrm>
          <a:prstGeom prst="ellipse">
            <a:avLst/>
          </a:prstGeom>
          <a:solidFill>
            <a:srgbClr val="FF5C7A"/>
          </a:solidFill>
          <a:ln w="12700">
            <a:solidFill>
              <a:srgbClr val="FF5C7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64224" y="326440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059168" y="325526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Guilherme Rosenthal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528048" y="327355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anos de casa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0716768" y="327355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08/09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6928" y="4160520"/>
            <a:ext cx="5285232" cy="1005840"/>
          </a:xfrm>
          <a:prstGeom prst="roundRect">
            <a:avLst>
              <a:gd name="adj" fmla="val 10909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86384" y="4398264"/>
            <a:ext cx="530352" cy="530352"/>
          </a:xfrm>
          <a:prstGeom prst="ellipse">
            <a:avLst/>
          </a:prstGeom>
          <a:solidFill>
            <a:srgbClr val="9B8CFF"/>
          </a:solidFill>
          <a:ln w="12700">
            <a:solidFill>
              <a:srgbClr val="9B8C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86384" y="449884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1481328" y="448970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3950208" y="450799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anos de casa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138928" y="450799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08/09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44768" y="4160520"/>
            <a:ext cx="5285232" cy="1005840"/>
          </a:xfrm>
          <a:prstGeom prst="roundRect">
            <a:avLst>
              <a:gd name="adj" fmla="val 10909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364224" y="4398264"/>
            <a:ext cx="530352" cy="530352"/>
          </a:xfrm>
          <a:prstGeom prst="ellipse">
            <a:avLst/>
          </a:prstGeom>
          <a:solidFill>
            <a:srgbClr val="2DD9A8"/>
          </a:solidFill>
          <a:ln w="12700">
            <a:solidFill>
              <a:srgbClr val="2DD9A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364224" y="449884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7059168" y="448970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Murilo Stiaque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9528048" y="450799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anos de casa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10716768" y="450799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30/09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NOVO TALENTO NO TIME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Boas-vindas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TV COMERCIAL · VIXTRA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964424" y="6382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Setembro /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10881360" cy="3566160"/>
          </a:xfrm>
          <a:prstGeom prst="roundRect">
            <a:avLst>
              <a:gd name="adj" fmla="val 3077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15568" y="2240280"/>
            <a:ext cx="2286000" cy="2286000"/>
          </a:xfrm>
          <a:prstGeom prst="roundRect">
            <a:avLst>
              <a:gd name="adj" fmla="val 8000"/>
            </a:avLst>
          </a:prstGeom>
          <a:solidFill>
            <a:srgbClr val="1C2555"/>
          </a:solidFill>
          <a:ln w="19050">
            <a:solidFill>
              <a:srgbClr val="5CC8FF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1115568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767328" y="23774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 da pessoa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3767328" y="303580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Cargo · Time · Chegou em DD/MM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767328" y="3547872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"Uma frase de apresentação da pessoa — algo que o time descubra aqui e comente no corredor."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54864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Mantenha este slide por 7 dias após a chegada e depois esconda.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1" fill="hold">
                      <p:stCondLst>
                        <p:cond delay="0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10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200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1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0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150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NOVIDADES DA EMPRESA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Avisos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TV COMERCIAL · VIXTRA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964424" y="6382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Setembro /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737360"/>
            <a:ext cx="5285232" cy="2286000"/>
          </a:xfrm>
          <a:prstGeom prst="roundRect">
            <a:avLst>
              <a:gd name="adj" fmla="val 4800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1965960"/>
            <a:ext cx="1051560" cy="310896"/>
          </a:xfrm>
          <a:prstGeom prst="roundRect">
            <a:avLst>
              <a:gd name="adj" fmla="val 47059"/>
            </a:avLst>
          </a:prstGeom>
          <a:solidFill>
            <a:srgbClr val="2E2A4D"/>
          </a:solidFill>
          <a:ln w="9525">
            <a:solidFill>
              <a:srgbClr val="9B8C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200253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AVISO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239572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das salas Itajaí, Shanghai e Santos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301752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Priorizadas para reuniões com 2+ pessoas. Reserva pela plataforma Control Room ou adicionando a sala desejada no invite da reunião.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63056" y="1737360"/>
            <a:ext cx="5285232" cy="2286000"/>
          </a:xfrm>
          <a:prstGeom prst="roundRect">
            <a:avLst>
              <a:gd name="adj" fmla="val 4800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37376" y="1965960"/>
            <a:ext cx="1234440" cy="310896"/>
          </a:xfrm>
          <a:prstGeom prst="roundRect">
            <a:avLst>
              <a:gd name="adj" fmla="val 47059"/>
            </a:avLst>
          </a:prstGeom>
          <a:solidFill>
            <a:srgbClr val="3D2E1A"/>
          </a:solidFill>
          <a:ln w="9525">
            <a:solidFill>
              <a:srgbClr val="FFB62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37376" y="200253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CRÉDITO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437376" y="239572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 aprovado chega a R$ 3,0M no mês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37376" y="301752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do limite de crédito aprovado nas ativações de setembro. Reflete direto no ritmo de fechamento do mês.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4224528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41248" y="464515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 livre para a novidade do mês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COTAÇÃO DE MOEDAS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Câmbio do dia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TV COMERCIAL · VIXTRA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964424" y="6382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Setembro /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3429000" cy="1783080"/>
          </a:xfrm>
          <a:prstGeom prst="roundRect">
            <a:avLst>
              <a:gd name="adj" fmla="val 6154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1874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USD / BRL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1488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Dólar americano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45973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R$ 5,14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044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5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-0,33% hoje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79392" y="1691640"/>
            <a:ext cx="3429000" cy="1783080"/>
          </a:xfrm>
          <a:prstGeom prst="roundRect">
            <a:avLst>
              <a:gd name="adj" fmla="val 6154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535424" y="1874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5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EUR / BRL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35424" y="21488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35424" y="245973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R$ 5,91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4535424" y="3044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5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-0,04% hoje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991856" y="1691640"/>
            <a:ext cx="3429000" cy="1783080"/>
          </a:xfrm>
          <a:prstGeom prst="roundRect">
            <a:avLst>
              <a:gd name="adj" fmla="val 6154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247888" y="1874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2D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GBP / BRL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247888" y="21488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 esterlina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247888" y="245973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R$ 6,82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8247888" y="3044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5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-1,11% hoje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3749040"/>
            <a:ext cx="3429000" cy="1783080"/>
          </a:xfrm>
          <a:prstGeom prst="roundRect">
            <a:avLst>
              <a:gd name="adj" fmla="val 6154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22960" y="3931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FF5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USDT / BRL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2062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Tether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451713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R$ 5,00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5102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estável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79392" y="3749040"/>
            <a:ext cx="3429000" cy="1783080"/>
          </a:xfrm>
          <a:prstGeom prst="roundRect">
            <a:avLst>
              <a:gd name="adj" fmla="val 6154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4535424" y="3931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9B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USDC / BRL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535424" y="42062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Coin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535424" y="451713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R$ 5,02</a:t>
            </a:r>
            <a:endParaRPr lang="en-US" sz="3000" dirty="0"/>
          </a:p>
        </p:txBody>
      </p:sp>
      <p:sp>
        <p:nvSpPr>
          <p:cNvPr id="30" name="Text 28"/>
          <p:cNvSpPr txBox="1"/>
          <p:nvPr/>
        </p:nvSpPr>
        <p:spPr>
          <a:xfrm>
            <a:off x="4535424" y="5102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estável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991856" y="3749040"/>
            <a:ext cx="3429000" cy="1783080"/>
          </a:xfrm>
          <a:prstGeom prst="roundRect">
            <a:avLst>
              <a:gd name="adj" fmla="val 6154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8247888" y="3931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BTC / BRL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247888" y="42062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247888" y="451713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R$ 435.261</a:t>
            </a:r>
            <a:endParaRPr lang="en-US" sz="2600" dirty="0"/>
          </a:p>
        </p:txBody>
      </p:sp>
      <p:sp>
        <p:nvSpPr>
          <p:cNvPr id="35" name="Text 33"/>
          <p:cNvSpPr txBox="1"/>
          <p:nvPr/>
        </p:nvSpPr>
        <p:spPr>
          <a:xfrm>
            <a:off x="8247888" y="5102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+4,44% hoje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66928" y="576072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Cotações de 21/09/2026 · fonte: DolarHoje. Clique em cada valor para atualizar antes de exibir.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MANUTENÇÃO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atualizar todo mês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TV COMERCIAL · VIXTRA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964424" y="6382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Setembro /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600200"/>
            <a:ext cx="10881360" cy="749808"/>
          </a:xfrm>
          <a:prstGeom prst="roundRect">
            <a:avLst>
              <a:gd name="adj" fmla="val 14634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86384" y="1773936"/>
            <a:ext cx="402336" cy="402336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6384" y="1828800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17099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e realizado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344168" y="1984248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 &gt; Dashboard 16374963. Copie "Volume Ativado - Este mês", "Clientes Ativados" e "Limite de Crédito Ativado".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2468880"/>
            <a:ext cx="10881360" cy="749808"/>
          </a:xfrm>
          <a:prstGeom prst="roundRect">
            <a:avLst>
              <a:gd name="adj" fmla="val 14634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86384" y="2642616"/>
            <a:ext cx="402336" cy="402336"/>
          </a:xfrm>
          <a:prstGeom prst="ellipse">
            <a:avLst/>
          </a:prstGeom>
          <a:solidFill>
            <a:srgbClr val="2DD9A8"/>
          </a:solidFill>
          <a:ln w="12700">
            <a:solidFill>
              <a:srgbClr val="2DD9A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86384" y="2697480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44168" y="25786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2852928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dashboard: "Forecasting do quarter", coluna do mês. Farming: dashboard 17934028.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3337560"/>
            <a:ext cx="10881360" cy="749808"/>
          </a:xfrm>
          <a:prstGeom prst="roundRect">
            <a:avLst>
              <a:gd name="adj" fmla="val 14634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86384" y="3511296"/>
            <a:ext cx="402336" cy="402336"/>
          </a:xfrm>
          <a:prstGeom prst="ellipse">
            <a:avLst/>
          </a:prstGeom>
          <a:solidFill>
            <a:srgbClr val="5CC8FF"/>
          </a:solidFill>
          <a:ln w="12700">
            <a:solidFill>
              <a:srgbClr val="5CC8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6384" y="3566160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344168" y="34472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Parcerias e áreas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344168" y="3721608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Hunting 20139959 · Farming 17422192 · Retargeting 20142518 · Câmbio 19074932 · Frete 19471670.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4206240"/>
            <a:ext cx="10881360" cy="749808"/>
          </a:xfrm>
          <a:prstGeom prst="roundRect">
            <a:avLst>
              <a:gd name="adj" fmla="val 14634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86384" y="4379976"/>
            <a:ext cx="402336" cy="402336"/>
          </a:xfrm>
          <a:prstGeom prst="ellipse">
            <a:avLst/>
          </a:prstGeom>
          <a:solidFill>
            <a:srgbClr val="FF5C7A"/>
          </a:solidFill>
          <a:ln w="12700">
            <a:solidFill>
              <a:srgbClr val="FF5C7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86384" y="4434840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344168" y="43159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Ativações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344168" y="4590288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#celebrations no Slack: copie as ativações dos últimos 5 dias.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6928" y="5074920"/>
            <a:ext cx="10881360" cy="749808"/>
          </a:xfrm>
          <a:prstGeom prst="roundRect">
            <a:avLst>
              <a:gd name="adj" fmla="val 14634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86384" y="5248656"/>
            <a:ext cx="402336" cy="402336"/>
          </a:xfrm>
          <a:prstGeom prst="ellipse">
            <a:avLst/>
          </a:prstGeom>
          <a:solidFill>
            <a:srgbClr val="9B8CFF"/>
          </a:solidFill>
          <a:ln w="12700">
            <a:solidFill>
              <a:srgbClr val="9B8C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86384" y="5303520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344168" y="51846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Aniversários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344168" y="5458968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Planilhas de aniversários e tempo de casa, filtrando pelo mês novo.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66928" y="603504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Dica: guarde uma cópia deste arquivo como modelo e trabalhe sempre sobre uma duplicata do mês anterior.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TV Comercial Vixtra</dc:title>
  <dc:subject>PptxGenJS Presentation</dc:subject>
  <dc:creator>Vixtra</dc:creator>
  <cp:lastModifiedBy>Vixtra</cp:lastModifiedBy>
  <cp:revision>1</cp:revision>
  <dcterms:created xsi:type="dcterms:W3CDTF">2026-09-21T20:00:17Z</dcterms:created>
  <dcterms:modified xsi:type="dcterms:W3CDTF">2026-09-21T20:00:17Z</dcterms:modified>
</cp:coreProperties>
</file>