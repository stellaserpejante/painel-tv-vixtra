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Aumento de Volume Tomado</c:v>
                </c:pt>
              </c:strCache>
            </c:strRef>
          </c:tx>
          <c:spPr>
            <a:solidFill>
              <a:srgbClr val="2DD9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Antonio Mourão</c:v>
                  </c:pt>
                  <c:pt idx="1">
                    <c:v>André Vitoretti</c:v>
                  </c:pt>
                  <c:pt idx="2">
                    <c:v>Carlos Ferrarezi</c:v>
                  </c:pt>
                  <c:pt idx="3">
                    <c:v>Tiago Viel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10343215</c:v>
                </c:pt>
                <c:pt idx="1">
                  <c:v>0</c:v>
                </c:pt>
                <c:pt idx="2">
                  <c:v>600000</c:v>
                </c:pt>
                <c:pt idx="3">
                  <c:v>2000000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Renovação</c:v>
                </c:pt>
              </c:strCache>
            </c:strRef>
          </c:tx>
          <c:spPr>
            <a:solidFill>
              <a:srgbClr val="5C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Antonio Mourão</c:v>
                  </c:pt>
                  <c:pt idx="1">
                    <c:v>André Vitoretti</c:v>
                  </c:pt>
                  <c:pt idx="2">
                    <c:v>Carlos Ferrarezi</c:v>
                  </c:pt>
                  <c:pt idx="3">
                    <c:v>Tiago Viel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14116000</c:v>
                </c:pt>
                <c:pt idx="1">
                  <c:v>4519000</c:v>
                </c:pt>
                <c:pt idx="2">
                  <c:v>3590043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6F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468"/>
              </a:solidFill>
              <a:prstDash val="solid"/>
              <a:round/>
            </a:ln>
          </c:spPr>
        </c:majorGridlines>
        <c:numFmt formatCode="R$ 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4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26"/>
        </a:solidFill>
        <a:ln w="12700" cap="flat">
          <a:solidFill>
            <a:srgbClr val="0A0F2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8C94B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F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extraídos do HubSpot e do Slack em 21/09/2026. Para atualizar no mês seguinte, siga o roteiro do último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HubSpot, relatórios "Volume Ativado - Este mês" (140792840), "Clientes Ativados - Este mês" (149250442) e "Limite de Crédito Ativado - Este mês" (148884903).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HubSpot, relatório "Forecasting do quarter - Por mês (volume)" (140793599), recorte do mês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por farmer. Antonio Mourão: R$ 10.343.215 de aumento e R$ 14.116.000 de renovação. André Vitoretti: R$ 4.519.000 de renovação. Carlos Ferrarezi: R$ 600.000 de aumento e R$ 3.590.043 de renovação. Tiago Viel: R$ 2.000.000 de aumento. Para editar os números, clique no gráfico e abra a planilha.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Substitua o retângulo tracejado pela imagem do gráfico de evolução da carteira. Atualização sugerida: a cada 2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agrupamento por proprietário das ativações do mês. Parcerias: agrupamento pela pessoa de BDR/parceria do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Retargeting: relatório 169016141. Frete: relatório 169003255. Câmbio: relatório 161366173, número consolidado da dupla.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Ativações detectadas no canal #celebrations do Slack. Mantenha no deck por 5 dias e depois substitua pelas próximas.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planilha "Aniversários Consolidado 2026". Troque a lista pelo mês seguinte — outubro tem 9 aniversariantes.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planilha "Tempo de casa Vixtra". Dois nomes vieram como apelido na planilha (Dri e Leo) — vale confirmar o nome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Joe entrou em 14/09/2026 como Senior Account Executive no time de Closing. Para esconder sem apagar: botão direito no slide &gt; Ocultar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conteúdo é manual: permanece até alguém trocar.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Cotações capturadas em 21/09/2026. Tether e USD Coin aparecem como estáveis porque a fonte não publica variação diária para elas. Atualize antes de exibir, ou oculte este slide nos dias em que não for atualizar.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4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image" Target="../media/image-9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766560" cy="6766560"/>
          </a:xfrm>
          <a:prstGeom prst="ellipse">
            <a:avLst/>
          </a:prstGeom>
          <a:solidFill>
            <a:srgbClr val="12306B">
              <a:alpha val="28000"/>
            </a:srgbClr>
          </a:solidFill>
          <a:ln w="12700">
            <a:solidFill>
              <a:srgbClr val="1230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4023360"/>
            <a:ext cx="5852160" cy="5852160"/>
          </a:xfrm>
          <a:prstGeom prst="ellipse">
            <a:avLst/>
          </a:prstGeom>
          <a:solidFill>
            <a:srgbClr val="4A3A12">
              <a:alpha val="24000"/>
            </a:srgbClr>
          </a:solidFill>
          <a:ln w="12700">
            <a:solidFill>
              <a:srgbClr val="4A3A1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0574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AO VIVO · PAINEL INTERNO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8716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Comercial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da operação · Setembro 2026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4434840"/>
            <a:ext cx="29718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5537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38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meta do mês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58768" y="4434840"/>
            <a:ext cx="29718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114800" y="45537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5138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0608" y="4434840"/>
            <a:ext cx="29718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06640" y="45537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R$ 17,3M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5138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quente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PROGRESSO DA META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do mês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indent="0" marL="0">
              <a:buNone/>
            </a:pPr>
            <a:r>
              <a:rPr lang="en-US" sz="88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meta atingida — faltam R$ 10.927.465 para bater o mês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246120"/>
            <a:ext cx="10881360" cy="310896"/>
          </a:xfrm>
          <a:prstGeom prst="roundRect">
            <a:avLst>
              <a:gd name="adj" fmla="val 4705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246120"/>
            <a:ext cx="1741018" cy="310896"/>
          </a:xfrm>
          <a:prstGeom prst="roundRect">
            <a:avLst>
              <a:gd name="adj" fmla="val 47059"/>
            </a:avLst>
          </a:prstGeom>
          <a:solidFill>
            <a:srgbClr val="2DD9A8"/>
          </a:solidFill>
          <a:ln w="6350">
            <a:solidFill>
              <a:srgbClr val="2D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630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R$ 2.072.534,72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76288" y="3630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Meta: R$ 13.000.000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224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727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411480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62272" y="4224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R$ 2,07 milhões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4727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ativado no mês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 ATIVADOS NO MÊS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434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Pneutek — R$ 600.000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Texol Brasil — R$ 500.000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Fusion Brasil — R$ 500.000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Eggerding Brasil — R$ 472.535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CLOSING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Closing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🔥 Quente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R$ 17,3M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79392" y="1481328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17136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🌤 Morno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R$ 22,4M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991856" y="1481328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❄ Frio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R$ 5,0M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035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3 NEGÓCIOS EM DESTAQUE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4015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35112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Integralmedica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8221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Andrade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3639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R$ 5.000.000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85248" y="36393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C2555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85248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3159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" y="44256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 Cearense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504688" y="4553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R$ 5.000.000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85248" y="45537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C2555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85248" y="4590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23036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41248" y="5340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Pack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5650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504688" y="5468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R$ 5.000.000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985248" y="546811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1C2555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85248" y="5504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quente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DE FARMING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por Farmer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72768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73736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887968" y="1856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Aumento de volume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887968" y="2139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R$ 12,9M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0" y="29718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887968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Renovação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887968" y="33741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R$ 22,2M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686800" y="420624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887968" y="4325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previsto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887968" y="4608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R$ 35,2M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EVOLUÇÃO DA CARTEIRA · ÚLTIMOS 30 DIAS · FONTE: CR2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2708" y="1536192"/>
            <a:ext cx="10003536" cy="3618259"/>
          </a:xfrm>
          <a:prstGeom prst="roundRect">
            <a:avLst>
              <a:gd name="adj" fmla="val 15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carteira-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1664208"/>
            <a:ext cx="9784080" cy="336222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5282467"/>
            <a:ext cx="3429000" cy="1024128"/>
          </a:xfrm>
          <a:prstGeom prst="roundRect">
            <a:avLst>
              <a:gd name="adj" fmla="val 1071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6384" y="5410483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Fechamento em 21/09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5684803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R$ 247,03M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279392" y="5282467"/>
            <a:ext cx="3429000" cy="1024128"/>
          </a:xfrm>
          <a:prstGeom prst="roundRect">
            <a:avLst>
              <a:gd name="adj" fmla="val 1071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498848" y="5410483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 do período (17/09)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5684803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R$ 248,65M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991856" y="5282467"/>
            <a:ext cx="3429000" cy="1024128"/>
          </a:xfrm>
          <a:prstGeom prst="roundRect">
            <a:avLst>
              <a:gd name="adj" fmla="val 1071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11312" y="5410483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Variação em 30 dias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211312" y="5684803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+9,0%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DESEMPENHO DOS VENDEDORES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e parcerias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556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4086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9" name="Image 0" descr="fotos/guilherme-belot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512064" cy="512064"/>
          </a:xfrm>
          <a:prstGeom prst="ellipse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00784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Belotto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700784" y="2468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negócios ativados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700784" y="2688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R$ 1.100.000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31821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14" name="Image 1" descr="fotos/jarbas-vinici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108960"/>
            <a:ext cx="512064" cy="512064"/>
          </a:xfrm>
          <a:prstGeom prst="ellipse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00784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700784" y="33101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negócio ativado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700784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R$ 500.000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" y="402336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fotos/kaio-oliveir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950208"/>
            <a:ext cx="512064" cy="512064"/>
          </a:xfrm>
          <a:prstGeom prst="ellipse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00784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Kaio Oliveira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700784" y="4151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negócio ativado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700784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R$ 472.535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27448" y="1572768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4983480" y="17556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PARCERIAS · FARMING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928616" y="234086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26" name="Image 3" descr="fotos/matheus-ferreir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2267712"/>
            <a:ext cx="512064" cy="512064"/>
          </a:xfrm>
          <a:prstGeom prst="ellipse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861304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Ferreira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5861304" y="2468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sendo 2 com small lead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861304" y="2688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7,0 oportunidades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928616" y="31821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9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31" name="Image 4" descr="fotos/julia-port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3108960"/>
            <a:ext cx="512064" cy="512064"/>
          </a:xfrm>
          <a:prstGeom prst="ellipse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861304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 Porto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861304" y="33101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sendo 1 com small lead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861304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 oportunidades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887968" y="1572768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9144000" y="1755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PARCERIAS · HUNTING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573768" y="2377440"/>
            <a:ext cx="1188720" cy="118872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5CC8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573768" y="2606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39" name="Text 32"/>
          <p:cNvSpPr txBox="1"/>
          <p:nvPr/>
        </p:nvSpPr>
        <p:spPr>
          <a:xfrm>
            <a:off x="9025128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no mês</a:t>
            </a:r>
            <a:endParaRPr lang="en-US" sz="1200" dirty="0"/>
          </a:p>
        </p:txBody>
      </p:sp>
      <p:pic>
        <p:nvPicPr>
          <p:cNvPr id="40" name="Image 5" descr="fotos/fabio-pap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4114800"/>
            <a:ext cx="457200" cy="457200"/>
          </a:xfrm>
          <a:prstGeom prst="ellipse">
            <a:avLst/>
          </a:prstGeom>
        </p:spPr>
      </p:pic>
      <p:pic>
        <p:nvPicPr>
          <p:cNvPr id="41" name="Image 6" descr="fotos/matheus-ferreira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4114800"/>
            <a:ext cx="457200" cy="457200"/>
          </a:xfrm>
          <a:prstGeom prst="ellipse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025128" y="4645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Papa e Matheus Ferreira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566928" y="539496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 de farming: oportunidade com Small Lead vale 0,5 · sem Small Lead vale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DESEMPENHO DOS VENDEDORES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Retargeting, frete e câmbio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RETARGETING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73936" y="2487168"/>
            <a:ext cx="1005840" cy="100584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2DD9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73936" y="26517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00" dirty="0"/>
          </a:p>
        </p:txBody>
      </p:sp>
      <p:pic>
        <p:nvPicPr>
          <p:cNvPr id="11" name="Image 0" descr="fotos/gal-silv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396" y="4041648"/>
            <a:ext cx="512064" cy="512064"/>
          </a:xfrm>
          <a:prstGeom prst="ellipse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6384" y="464515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 Silva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79392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35424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2487168"/>
            <a:ext cx="1005840" cy="100584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5CC8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0" y="26517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4535424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embarques confirmados</a:t>
            </a:r>
            <a:endParaRPr lang="en-US" sz="1200" dirty="0"/>
          </a:p>
        </p:txBody>
      </p:sp>
      <p:pic>
        <p:nvPicPr>
          <p:cNvPr id="18" name="Image 1" descr="fotos/luciana-turisc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4041648"/>
            <a:ext cx="512064" cy="512064"/>
          </a:xfrm>
          <a:prstGeom prst="ellipse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98848" y="464515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Luciana Turisco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991856" y="16916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247888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CÂMBIO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198864" y="2487168"/>
            <a:ext cx="1005840" cy="1005840"/>
          </a:xfrm>
          <a:prstGeom prst="ellipse">
            <a:avLst/>
          </a:prstGeom>
          <a:solidFill>
            <a:srgbClr val="1C2555"/>
          </a:solidFill>
          <a:ln w="19050">
            <a:solidFill>
              <a:srgbClr val="9B8C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198864" y="26517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8247888" y="36393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de cadastro</a:t>
            </a:r>
            <a:endParaRPr lang="en-US" sz="1200" dirty="0"/>
          </a:p>
        </p:txBody>
      </p:sp>
      <p:pic>
        <p:nvPicPr>
          <p:cNvPr id="25" name="Image 2" descr="fotos/gabriella-machad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4041648"/>
            <a:ext cx="512064" cy="512064"/>
          </a:xfrm>
          <a:prstGeom prst="ellipse">
            <a:avLst/>
          </a:prstGeom>
        </p:spPr>
      </p:pic>
      <p:pic>
        <p:nvPicPr>
          <p:cNvPr id="26" name="Image 3" descr="fotos/julia-guimarae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4041648"/>
            <a:ext cx="512064" cy="512064"/>
          </a:xfrm>
          <a:prstGeom prst="ellipse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211312" y="464515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Gabriella Machado &amp; Julia Guimarães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583680" cy="6583680"/>
          </a:xfrm>
          <a:prstGeom prst="ellipse">
            <a:avLst/>
          </a:prstGeom>
          <a:solidFill>
            <a:srgbClr val="1A4A3A">
              <a:alpha val="22000"/>
            </a:srgbClr>
          </a:solidFill>
          <a:ln w="12700">
            <a:solidFill>
              <a:srgbClr val="1A4A3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6858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🔔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0" y="1572768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 ATIVAÇÃO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1975104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o sino!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115568" y="3063240"/>
            <a:ext cx="5029200" cy="2148840"/>
          </a:xfrm>
          <a:prstGeom prst="roundRect">
            <a:avLst>
              <a:gd name="adj" fmla="val 5106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435608" y="324612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Eggerding Brasil</a:t>
            </a:r>
            <a:endParaRPr lang="en-US" sz="2200" dirty="0"/>
          </a:p>
        </p:txBody>
      </p:sp>
      <p:pic>
        <p:nvPicPr>
          <p:cNvPr id="8" name="Image 0" descr="fotos/kaio-olivei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3694176"/>
            <a:ext cx="493776" cy="493776"/>
          </a:xfrm>
          <a:prstGeom prst="ellipse">
            <a:avLst/>
          </a:prstGeom>
        </p:spPr>
      </p:pic>
      <p:pic>
        <p:nvPicPr>
          <p:cNvPr id="9" name="Image 1" descr="fotos/julia-por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3694176"/>
            <a:ext cx="493776" cy="493776"/>
          </a:xfrm>
          <a:prstGeom prst="ellipse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24328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Kaio Oliveira &amp; Julia Porto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435608" y="4261104"/>
            <a:ext cx="2834640" cy="502920"/>
          </a:xfrm>
          <a:prstGeom prst="roundRect">
            <a:avLst>
              <a:gd name="adj" fmla="val 45455"/>
            </a:avLst>
          </a:prstGeom>
          <a:solidFill>
            <a:srgbClr val="1C2555"/>
          </a:solidFill>
          <a:ln w="12700">
            <a:solidFill>
              <a:srgbClr val="2DD9A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35608" y="4361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R$ 472.534,72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435608" y="4864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Ativado em 15/09/2026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93408" y="3063240"/>
            <a:ext cx="5029200" cy="2148840"/>
          </a:xfrm>
          <a:prstGeom prst="roundRect">
            <a:avLst>
              <a:gd name="adj" fmla="val 5106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013448" y="324612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Fusion Brasil</a:t>
            </a:r>
            <a:endParaRPr lang="en-US" sz="2200" dirty="0"/>
          </a:p>
        </p:txBody>
      </p:sp>
      <p:pic>
        <p:nvPicPr>
          <p:cNvPr id="16" name="Image 2" descr="fotos/jarbas-viniciu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3694176"/>
            <a:ext cx="493776" cy="493776"/>
          </a:xfrm>
          <a:prstGeom prst="ellipse">
            <a:avLst/>
          </a:prstGeom>
        </p:spPr>
      </p:pic>
      <p:pic>
        <p:nvPicPr>
          <p:cNvPr id="17" name="Image 3" descr="fotos/gal-silv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3694176"/>
            <a:ext cx="493776" cy="493776"/>
          </a:xfrm>
          <a:prstGeom prst="ellipse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02168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Jarbas Vinícius &amp; Gal Silva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013448" y="4261104"/>
            <a:ext cx="2834640" cy="502920"/>
          </a:xfrm>
          <a:prstGeom prst="roundRect">
            <a:avLst>
              <a:gd name="adj" fmla="val 45455"/>
            </a:avLst>
          </a:prstGeom>
          <a:solidFill>
            <a:srgbClr val="1C2555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013448" y="4361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R$ 500.000,00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7013448" y="4864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Ativado em 15/09/2026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20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500000">
                                      <p:cBhvr>
                                        <p:cTn id="109" dur="260" autoRev="1" fill="hold" repeatCount="6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30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15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5" dur="420" autoRev="1" fill="hold" repeatCount="2000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30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15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0" dur="420" autoRev="1" fill="hold" repeatCount="2000"/>
                                        <p:tgtEl>
                                          <p:spTgt spid="2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ANIVERSARIANTES DO MÊS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Parabéns!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fotos/cecilia-morei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847088"/>
            <a:ext cx="640080" cy="64008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Cecília Moreira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 Pleno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02/09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46704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fotos/jorge-mortar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847088"/>
            <a:ext cx="640080" cy="640080"/>
          </a:xfrm>
          <a:prstGeom prst="ellipse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Mortara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05/09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fotos/guilherme-rosentha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1847088"/>
            <a:ext cx="640080" cy="640080"/>
          </a:xfrm>
          <a:prstGeom prst="ellipse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54496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Rosenthal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54496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254496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09/09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906256" y="164592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fotos/henrique-pagnani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847088"/>
            <a:ext cx="640080" cy="640080"/>
          </a:xfrm>
          <a:prstGeom prst="ellipse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34272" y="25603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Henrique Pagnani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034272" y="287121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Cobrança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034272" y="32004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12/09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6928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4" descr="fotos/pyetra-falca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192" y="3950208"/>
            <a:ext cx="640080" cy="640080"/>
          </a:xfrm>
          <a:prstGeom prst="ellipse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94944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Pyetra Falcão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94944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Marketing Pleno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94944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13/09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346704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5" descr="fotos/guilherme-machado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3950208"/>
            <a:ext cx="640080" cy="640080"/>
          </a:xfrm>
          <a:prstGeom prst="ellipse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474720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Machado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3474720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Senior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3474720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15/09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6126480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37" name="Image 6" descr="fotos/tiago-viel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44" y="3950208"/>
            <a:ext cx="640080" cy="640080"/>
          </a:xfrm>
          <a:prstGeom prst="ellipse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254496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Viel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6254496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Comercial Farmer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6254496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24/09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8906256" y="3749040"/>
            <a:ext cx="2578608" cy="1874520"/>
          </a:xfrm>
          <a:prstGeom prst="roundRect">
            <a:avLst>
              <a:gd name="adj" fmla="val 58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42" name="Image 7" descr="fotos/hellen-almeida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5520" y="3950208"/>
            <a:ext cx="640080" cy="640080"/>
          </a:xfrm>
          <a:prstGeom prst="ellipse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034272" y="466344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Hellen Almeida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9034272" y="49743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Middle Office Senior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9034272" y="530352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28/09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ANIVERSÁRIOS DE CASA · SETEMBRO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Vixtra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fotos/franklin-sant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29384"/>
            <a:ext cx="530352" cy="530352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2020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Santos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950208" y="2039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ano de casa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138928" y="20391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01/09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4768" y="169164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fotos/caio-gelf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929384"/>
            <a:ext cx="530352" cy="530352"/>
          </a:xfrm>
          <a:prstGeom prst="ellipse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59168" y="2020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Gelfi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528048" y="2039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0716768" y="203911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292608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fotos/adriana-sima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163824"/>
            <a:ext cx="530352" cy="530352"/>
          </a:xfrm>
          <a:prstGeom prst="ellipse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81328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(Dri)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950208" y="32735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138928" y="3273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44768" y="292608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fotos/guilherme-rosentha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530352" cy="530352"/>
          </a:xfrm>
          <a:prstGeom prst="ellipse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59168" y="3255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Rosenthal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528048" y="32735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10716768" y="3273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6928" y="416052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27" name="Image 4" descr="fotos/leonardo-baltieri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398264"/>
            <a:ext cx="530352" cy="530352"/>
          </a:xfrm>
          <a:prstGeom prst="ellipse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81328" y="4489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3950208" y="4507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anos de casa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5138928" y="45079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08/09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44768" y="4160520"/>
            <a:ext cx="5285232" cy="1005840"/>
          </a:xfrm>
          <a:prstGeom prst="roundRect">
            <a:avLst>
              <a:gd name="adj" fmla="val 1090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5" descr="fotos/murilo-stiaqu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398264"/>
            <a:ext cx="530352" cy="530352"/>
          </a:xfrm>
          <a:prstGeom prst="ellipse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59168" y="4489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Murilo Stiaque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9528048" y="4507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anos de casa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0716768" y="450799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30/09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 TALENTO NO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Boas-vindas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fotos/jo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48840"/>
            <a:ext cx="2103120" cy="210312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721608" y="199339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721608" y="27614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 Account Executive · Closing · Chegou em 14/09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21608" y="3364992"/>
            <a:ext cx="274320" cy="27432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51376" y="3328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CURIOSIDADE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151376" y="3639312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um canal no YouTube e adoro gravar vídeos, apesar de odiar editar.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721608" y="4389120"/>
            <a:ext cx="274320" cy="274320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51376" y="4352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HOBBY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151376" y="4663440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 viajar.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89788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Boas-vindas, Joe! Este slide fica no ar por 7 dias.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0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0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5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5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NOVIDADES DA EMPRESA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5285232" cy="2651760"/>
          </a:xfrm>
          <a:prstGeom prst="roundRect">
            <a:avLst>
              <a:gd name="adj" fmla="val 4138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606040"/>
            <a:ext cx="1051560" cy="310896"/>
          </a:xfrm>
          <a:prstGeom prst="roundRect">
            <a:avLst>
              <a:gd name="adj" fmla="val 47059"/>
            </a:avLst>
          </a:prstGeom>
          <a:solidFill>
            <a:srgbClr val="2E2A4D"/>
          </a:solidFill>
          <a:ln w="9525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6426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das salas Itajaí, Shanghai e Santos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703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Priorizadas para reuniões com 2+ pessoas. Reserva pela plataforma Control Room ou adicionando a sala desejada no invite da reunião.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2331720"/>
            <a:ext cx="5285232" cy="2651760"/>
          </a:xfrm>
          <a:prstGeom prst="roundRect">
            <a:avLst>
              <a:gd name="adj" fmla="val 4138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7376" y="260604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3D2E1A"/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7376" y="2642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CRÉDITO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aprovado chega a R$ 3,0M no mês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703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limite de crédito aprovado nas ativações de setembro. Reflete direto no ritmo de fechamento do mês.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COTAÇÃO DE MOEDAS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Câmbio do dia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COMERCIAL · VIXTRA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964424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Setembro /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 / BRL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 americano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59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R$ 5,14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-0,33% hoje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35424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 / BRL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459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R$ 5,91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-0,04% hoje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691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47888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GBP / BRL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148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 esterlina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24597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R$ 6,82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-1,11% hoje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7490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USDT / BRL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517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102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estável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79392" y="37490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35424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USDC / BRL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35424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Coin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35424" y="4517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R$ 5,02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4535424" y="5102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estável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91856" y="37490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61E48"/>
          </a:solidFill>
          <a:ln w="9525">
            <a:solidFill>
              <a:srgbClr val="2A346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47888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B6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BTC / BRL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47888" y="45171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R$ 435.261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5102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+4,44% hoje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7607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Cotações de 21/09/2026 · fonte: DolarHoje. Clique em cada valor para atualizar antes de exibir.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 Comercial Vixtra</dc:title>
  <dc:subject>PptxGenJS Presentation</dc:subject>
  <dc:creator>Vixtra</dc:creator>
  <cp:lastModifiedBy>Vixtra</cp:lastModifiedBy>
  <cp:revision>1</cp:revision>
  <dcterms:created xsi:type="dcterms:W3CDTF">2026-09-22T12:51:26Z</dcterms:created>
  <dcterms:modified xsi:type="dcterms:W3CDTF">2026-09-22T12:51:26Z</dcterms:modified>
</cp:coreProperties>
</file>